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stripe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eyebrow"/>
          <p:cNvSpPr txBox="1"/>
          <p:nvPr/>
        </p:nvSpPr>
        <p:spPr>
          <a:xfrm>
            <a:off x="1981047" y="23317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spc="200">
                <a:solidFill>
                  <a:srgbClr val="F5C400"/>
                </a:solidFill>
                <a:latin typeface="Cascadia Code"/>
                <a:ea typeface="+mn-ea"/>
              </a:rPr>
              <a:t>ADMIN CONSOLE  ·  URL REDIRECT MANAGEMENT</a:t>
            </a:r>
          </a:p>
        </p:txBody>
      </p:sp>
      <p:sp>
        <p:nvSpPr>
          <p:cNvPr id="4" name="cover-title"/>
          <p:cNvSpPr txBox="1"/>
          <p:nvPr/>
        </p:nvSpPr>
        <p:spPr>
          <a:xfrm>
            <a:off x="1981047" y="27157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5" name="cover-subtitle"/>
          <p:cNvSpPr txBox="1"/>
          <p:nvPr/>
        </p:nvSpPr>
        <p:spPr>
          <a:xfrm>
            <a:off x="1981047" y="34107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C400"/>
                </a:solidFill>
                <a:latin typeface="Cascadia Code"/>
                <a:ea typeface="+mn-ea"/>
              </a:rPr>
              <a:t>Managed Redirects · go.pvm.co.za</a:t>
            </a:r>
          </a:p>
        </p:txBody>
      </p:sp>
      <p:sp>
        <p:nvSpPr>
          <p:cNvPr id="6" name="cover-desc"/>
          <p:cNvSpPr txBox="1"/>
          <p:nvPr/>
        </p:nvSpPr>
        <p:spPr>
          <a:xfrm>
            <a:off x="1981047" y="390448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A0A6"/>
                </a:solidFill>
                <a:latin typeface="Segoe UI"/>
                <a:ea typeface="+mn-ea"/>
              </a:rPr>
              <a:t>High-fidelity admin prototype — 5 screens</a:t>
            </a:r>
          </a:p>
        </p:txBody>
      </p:sp>
      <p:sp>
        <p:nvSpPr>
          <p:cNvPr id="7" name="cover-meta"/>
          <p:cNvSpPr txBox="1"/>
          <p:nvPr/>
        </p:nvSpPr>
        <p:spPr>
          <a:xfrm>
            <a:off x="1981047" y="4379976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28090"/>
                </a:solidFill>
                <a:latin typeface="Cascadia Code"/>
                <a:ea typeface="+mn-ea"/>
              </a:rPr>
              <a:t>pvm.co.za  ·  2026-05-13</a:t>
            </a:r>
          </a:p>
        </p:txBody>
      </p:sp>
      <p:sp>
        <p:nvSpPr>
          <p:cNvPr id="8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9BA0A6"/>
                </a:solidFill>
                <a:latin typeface="Cascadia Code"/>
                <a:ea typeface="+mn-ea"/>
              </a:rPr>
              <a:t>PVM URL Admin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9BA0A6"/>
                </a:solidFill>
                <a:latin typeface="Cascadia Code"/>
                <a:ea typeface="+mn-ea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ipe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-sidebar-bg"/>
          <p:cNvSpPr/>
          <p:nvPr/>
        </p:nvSpPr>
        <p:spPr>
          <a:xfrm>
            <a:off x="0" y="0"/>
            <a:ext cx="1737360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debar-accent-stripe"/>
          <p:cNvSpPr/>
          <p:nvPr/>
        </p:nvSpPr>
        <p:spPr>
          <a:xfrm>
            <a:off x="0" y="0"/>
            <a:ext cx="1737360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debar-logo-bg"/>
          <p:cNvSpPr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idebar-logo"/>
          <p:cNvSpPr txBox="1"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35"/>
                </a:solidFill>
                <a:latin typeface="Segoe UI"/>
                <a:ea typeface="+mn-ea"/>
              </a:rPr>
              <a:t>P</a:t>
            </a:r>
          </a:p>
        </p:txBody>
      </p:sp>
      <p:sp>
        <p:nvSpPr>
          <p:cNvPr id="7" name="sidebar-name"/>
          <p:cNvSpPr txBox="1"/>
          <p:nvPr/>
        </p:nvSpPr>
        <p:spPr>
          <a:xfrm>
            <a:off x="512064" y="146304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8" name="sidebar-sub"/>
          <p:cNvSpPr txBox="1"/>
          <p:nvPr/>
        </p:nvSpPr>
        <p:spPr>
          <a:xfrm>
            <a:off x="512064" y="301752"/>
            <a:ext cx="11155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spc="120">
                <a:solidFill>
                  <a:srgbClr val="9BA0A6"/>
                </a:solidFill>
                <a:latin typeface="Segoe UI"/>
                <a:ea typeface="+mn-ea"/>
              </a:rPr>
              <a:t>MANAGED REDIRECTS</a:t>
            </a:r>
          </a:p>
        </p:txBody>
      </p:sp>
      <p:sp>
        <p:nvSpPr>
          <p:cNvPr id="9" name="sidebar-section-overview"/>
          <p:cNvSpPr txBox="1"/>
          <p:nvPr/>
        </p:nvSpPr>
        <p:spPr>
          <a:xfrm>
            <a:off x="164592" y="5669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OVERVIEW</a:t>
            </a:r>
          </a:p>
        </p:txBody>
      </p:sp>
      <p:sp>
        <p:nvSpPr>
          <p:cNvPr id="10" name="sidebar-active-bg-dashboard"/>
          <p:cNvSpPr/>
          <p:nvPr/>
        </p:nvSpPr>
        <p:spPr>
          <a:xfrm>
            <a:off x="91440" y="731520"/>
            <a:ext cx="1554480" cy="256032"/>
          </a:xfrm>
          <a:prstGeom prst="rect">
            <a:avLst/>
          </a:prstGeom>
          <a:solidFill>
            <a:srgbClr val="1A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debar-item-dashboard"/>
          <p:cNvSpPr txBox="1"/>
          <p:nvPr/>
        </p:nvSpPr>
        <p:spPr>
          <a:xfrm>
            <a:off x="201168" y="749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400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12" name="sidebar-section-redirects"/>
          <p:cNvSpPr txBox="1"/>
          <p:nvPr/>
        </p:nvSpPr>
        <p:spPr>
          <a:xfrm>
            <a:off x="164592" y="10241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13" name="sidebar-item-all-redirects"/>
          <p:cNvSpPr txBox="1"/>
          <p:nvPr/>
        </p:nvSpPr>
        <p:spPr>
          <a:xfrm>
            <a:off x="201168" y="1207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All Redirects</a:t>
            </a:r>
          </a:p>
        </p:txBody>
      </p:sp>
      <p:sp>
        <p:nvSpPr>
          <p:cNvPr id="14" name="sidebar-item-new-redirect"/>
          <p:cNvSpPr txBox="1"/>
          <p:nvPr/>
        </p:nvSpPr>
        <p:spPr>
          <a:xfrm>
            <a:off x="201168" y="1481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15" name="sidebar-section-organisation"/>
          <p:cNvSpPr txBox="1"/>
          <p:nvPr/>
        </p:nvSpPr>
        <p:spPr>
          <a:xfrm>
            <a:off x="164592" y="17556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16" name="sidebar-item-tags-&amp;-categories"/>
          <p:cNvSpPr txBox="1"/>
          <p:nvPr/>
        </p:nvSpPr>
        <p:spPr>
          <a:xfrm>
            <a:off x="201168" y="1938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17" name="sidebar-section-system"/>
          <p:cNvSpPr txBox="1"/>
          <p:nvPr/>
        </p:nvSpPr>
        <p:spPr>
          <a:xfrm>
            <a:off x="164592" y="22128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SYSTEM</a:t>
            </a:r>
          </a:p>
        </p:txBody>
      </p:sp>
      <p:sp>
        <p:nvSpPr>
          <p:cNvPr id="18" name="sidebar-item-settings"/>
          <p:cNvSpPr txBox="1"/>
          <p:nvPr/>
        </p:nvSpPr>
        <p:spPr>
          <a:xfrm>
            <a:off x="201168" y="2395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Settings</a:t>
            </a:r>
          </a:p>
        </p:txBody>
      </p:sp>
      <p:sp>
        <p:nvSpPr>
          <p:cNvPr id="19" name="sidebar-user-bg"/>
          <p:cNvSpPr/>
          <p:nvPr/>
        </p:nvSpPr>
        <p:spPr>
          <a:xfrm>
            <a:off x="91440" y="6309360"/>
            <a:ext cx="1554480" cy="310896"/>
          </a:xfrm>
          <a:prstGeom prst="rect">
            <a:avLst/>
          </a:prstGeom>
          <a:solidFill>
            <a:srgbClr val="1A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bar-av-bg"/>
          <p:cNvSpPr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bar-av"/>
          <p:cNvSpPr txBox="1"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+mn-ea"/>
              </a:rPr>
              <a:t>M</a:t>
            </a:r>
          </a:p>
        </p:txBody>
      </p:sp>
      <p:sp>
        <p:nvSpPr>
          <p:cNvPr id="22" name="sidebar-user-name"/>
          <p:cNvSpPr txBox="1"/>
          <p:nvPr/>
        </p:nvSpPr>
        <p:spPr>
          <a:xfrm>
            <a:off x="457200" y="63550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0D6"/>
                </a:solidFill>
                <a:latin typeface="Segoe UI"/>
                <a:ea typeface="+mn-ea"/>
              </a:rPr>
              <a:t>Marius</a:t>
            </a:r>
          </a:p>
        </p:txBody>
      </p:sp>
      <p:sp>
        <p:nvSpPr>
          <p:cNvPr id="23" name="sidebar-user-role"/>
          <p:cNvSpPr txBox="1"/>
          <p:nvPr/>
        </p:nvSpPr>
        <p:spPr>
          <a:xfrm>
            <a:off x="457200" y="649224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28090"/>
                </a:solidFill>
                <a:latin typeface="Segoe UI"/>
                <a:ea typeface="+mn-ea"/>
              </a:rPr>
              <a:t>Administrator</a:t>
            </a:r>
          </a:p>
        </p:txBody>
      </p:sp>
      <p:sp>
        <p:nvSpPr>
          <p:cNvPr id="24" name="topbar-bg"/>
          <p:cNvSpPr/>
          <p:nvPr/>
        </p:nvSpPr>
        <p:spPr>
          <a:xfrm>
            <a:off x="1737360" y="0"/>
            <a:ext cx="104543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bar-bc"/>
          <p:cNvSpPr txBox="1"/>
          <p:nvPr/>
        </p:nvSpPr>
        <p:spPr>
          <a:xfrm>
            <a:off x="1938528" y="109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PVM URL Admin  ›  Dashboard</a:t>
            </a:r>
          </a:p>
        </p:txBody>
      </p:sp>
      <p:sp>
        <p:nvSpPr>
          <p:cNvPr id="26" name="topbar-btn-bg"/>
          <p:cNvSpPr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bar-btn"/>
          <p:cNvSpPr txBox="1"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+ New redirect</a:t>
            </a:r>
          </a:p>
        </p:txBody>
      </p:sp>
      <p:sp>
        <p:nvSpPr>
          <p:cNvPr id="28" name="pg-eyebrow"/>
          <p:cNvSpPr txBox="1"/>
          <p:nvPr/>
        </p:nvSpPr>
        <p:spPr>
          <a:xfrm>
            <a:off x="1993392" y="612648"/>
            <a:ext cx="994227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120">
                <a:solidFill>
                  <a:srgbClr val="6B7280"/>
                </a:solidFill>
                <a:latin typeface="Segoe UI"/>
                <a:ea typeface="+mn-ea"/>
              </a:rPr>
              <a:t>Admin Console</a:t>
            </a:r>
          </a:p>
        </p:txBody>
      </p:sp>
      <p:sp>
        <p:nvSpPr>
          <p:cNvPr id="29" name="pg-title"/>
          <p:cNvSpPr txBox="1"/>
          <p:nvPr/>
        </p:nvSpPr>
        <p:spPr>
          <a:xfrm>
            <a:off x="1993392" y="777240"/>
            <a:ext cx="9942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35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30" name="pg-desc"/>
          <p:cNvSpPr txBox="1"/>
          <p:nvPr/>
        </p:nvSpPr>
        <p:spPr>
          <a:xfrm>
            <a:off x="1993392" y="1088136"/>
            <a:ext cx="99422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  <a:ea typeface="+mn-ea"/>
              </a:rPr>
              <a:t>Overview of redirects and recent activity.</a:t>
            </a:r>
          </a:p>
        </p:txBody>
      </p:sp>
      <p:sp>
        <p:nvSpPr>
          <p:cNvPr id="31" name="kpi-Total Redirects-bg"/>
          <p:cNvSpPr/>
          <p:nvPr/>
        </p:nvSpPr>
        <p:spPr>
          <a:xfrm>
            <a:off x="1975104" y="1417320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-Total Redirects-lbl"/>
          <p:cNvSpPr txBox="1"/>
          <p:nvPr/>
        </p:nvSpPr>
        <p:spPr>
          <a:xfrm>
            <a:off x="2103120" y="1527048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TOTAL REDIRECTS</a:t>
            </a:r>
          </a:p>
        </p:txBody>
      </p:sp>
      <p:sp>
        <p:nvSpPr>
          <p:cNvPr id="33" name="kpi-Total Redirects-val"/>
          <p:cNvSpPr txBox="1"/>
          <p:nvPr/>
        </p:nvSpPr>
        <p:spPr>
          <a:xfrm>
            <a:off x="2103120" y="1691640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42</a:t>
            </a:r>
          </a:p>
        </p:txBody>
      </p:sp>
      <p:sp>
        <p:nvSpPr>
          <p:cNvPr id="34" name="kpi-Total Redirects-delta"/>
          <p:cNvSpPr txBox="1"/>
          <p:nvPr/>
        </p:nvSpPr>
        <p:spPr>
          <a:xfrm>
            <a:off x="2103120" y="2020824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Segoe UI"/>
                <a:ea typeface="+mn-ea"/>
              </a:rPr>
              <a:t>3 added this week</a:t>
            </a:r>
          </a:p>
        </p:txBody>
      </p:sp>
      <p:sp>
        <p:nvSpPr>
          <p:cNvPr id="35" name="kpi-Total Clicks-bg"/>
          <p:cNvSpPr/>
          <p:nvPr/>
        </p:nvSpPr>
        <p:spPr>
          <a:xfrm>
            <a:off x="4506391" y="1417320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pi-Total Clicks-lbl"/>
          <p:cNvSpPr txBox="1"/>
          <p:nvPr/>
        </p:nvSpPr>
        <p:spPr>
          <a:xfrm>
            <a:off x="4634407" y="1527048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TOTAL CLICKS</a:t>
            </a:r>
          </a:p>
        </p:txBody>
      </p:sp>
      <p:sp>
        <p:nvSpPr>
          <p:cNvPr id="37" name="kpi-Total Clicks-val"/>
          <p:cNvSpPr txBox="1"/>
          <p:nvPr/>
        </p:nvSpPr>
        <p:spPr>
          <a:xfrm>
            <a:off x="4634407" y="1691640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1,287</a:t>
            </a:r>
          </a:p>
        </p:txBody>
      </p:sp>
      <p:sp>
        <p:nvSpPr>
          <p:cNvPr id="38" name="kpi-Total Clicks-delta"/>
          <p:cNvSpPr txBox="1"/>
          <p:nvPr/>
        </p:nvSpPr>
        <p:spPr>
          <a:xfrm>
            <a:off x="4634407" y="2020824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Segoe UI"/>
                <a:ea typeface="+mn-ea"/>
              </a:rPr>
              <a:t>127 this week</a:t>
            </a:r>
          </a:p>
        </p:txBody>
      </p:sp>
      <p:sp>
        <p:nvSpPr>
          <p:cNvPr id="39" name="kpi-Clicks Today-bg"/>
          <p:cNvSpPr/>
          <p:nvPr/>
        </p:nvSpPr>
        <p:spPr>
          <a:xfrm>
            <a:off x="7037679" y="1417320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pi-Clicks Today-lbl"/>
          <p:cNvSpPr txBox="1"/>
          <p:nvPr/>
        </p:nvSpPr>
        <p:spPr>
          <a:xfrm>
            <a:off x="7165695" y="1527048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CLICKS TODAY</a:t>
            </a:r>
          </a:p>
        </p:txBody>
      </p:sp>
      <p:sp>
        <p:nvSpPr>
          <p:cNvPr id="41" name="kpi-Clicks Today-val"/>
          <p:cNvSpPr txBox="1"/>
          <p:nvPr/>
        </p:nvSpPr>
        <p:spPr>
          <a:xfrm>
            <a:off x="7165695" y="1691640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14</a:t>
            </a:r>
          </a:p>
        </p:txBody>
      </p:sp>
      <p:sp>
        <p:nvSpPr>
          <p:cNvPr id="42" name="kpi-Clicks Today-delta"/>
          <p:cNvSpPr txBox="1"/>
          <p:nvPr/>
        </p:nvSpPr>
        <p:spPr>
          <a:xfrm>
            <a:off x="7165695" y="2020824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As of 10:32 AM</a:t>
            </a:r>
          </a:p>
        </p:txBody>
      </p:sp>
      <p:sp>
        <p:nvSpPr>
          <p:cNvPr id="43" name="kpi-Active-bg"/>
          <p:cNvSpPr/>
          <p:nvPr/>
        </p:nvSpPr>
        <p:spPr>
          <a:xfrm>
            <a:off x="9568967" y="1417320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-Active-lbl"/>
          <p:cNvSpPr txBox="1"/>
          <p:nvPr/>
        </p:nvSpPr>
        <p:spPr>
          <a:xfrm>
            <a:off x="9696983" y="1527048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45" name="kpi-Active-val"/>
          <p:cNvSpPr txBox="1"/>
          <p:nvPr/>
        </p:nvSpPr>
        <p:spPr>
          <a:xfrm>
            <a:off x="9696983" y="1691640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38</a:t>
            </a:r>
          </a:p>
        </p:txBody>
      </p:sp>
      <p:sp>
        <p:nvSpPr>
          <p:cNvPr id="46" name="kpi-Active-delta"/>
          <p:cNvSpPr txBox="1"/>
          <p:nvPr/>
        </p:nvSpPr>
        <p:spPr>
          <a:xfrm>
            <a:off x="9696983" y="2020824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4 paused or expired</a:t>
            </a:r>
          </a:p>
        </p:txBody>
      </p:sp>
      <p:sp>
        <p:nvSpPr>
          <p:cNvPr id="47" name="top-redirects-card"/>
          <p:cNvSpPr/>
          <p:nvPr/>
        </p:nvSpPr>
        <p:spPr>
          <a:xfrm>
            <a:off x="1975104" y="2350008"/>
            <a:ext cx="4943703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op-redirects-hd-bg"/>
          <p:cNvSpPr/>
          <p:nvPr/>
        </p:nvSpPr>
        <p:spPr>
          <a:xfrm>
            <a:off x="1975104" y="2350008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op-redirects-hd-title"/>
          <p:cNvSpPr txBox="1"/>
          <p:nvPr/>
        </p:nvSpPr>
        <p:spPr>
          <a:xfrm>
            <a:off x="2103120" y="2404872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Top Redirects</a:t>
            </a:r>
          </a:p>
        </p:txBody>
      </p:sp>
      <p:sp>
        <p:nvSpPr>
          <p:cNvPr id="50" name="top-redirects-hd-sub"/>
          <p:cNvSpPr txBox="1"/>
          <p:nvPr/>
        </p:nvSpPr>
        <p:spPr>
          <a:xfrm>
            <a:off x="2103120" y="2551176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By total clicks, all time</a:t>
            </a:r>
          </a:p>
        </p:txBody>
      </p:sp>
      <p:sp>
        <p:nvSpPr>
          <p:cNvPr id="51" name="top-row-0-bg"/>
          <p:cNvSpPr/>
          <p:nvPr/>
        </p:nvSpPr>
        <p:spPr>
          <a:xfrm>
            <a:off x="1975104" y="2734056"/>
            <a:ext cx="4943703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op-row-0-title"/>
          <p:cNvSpPr txBox="1"/>
          <p:nvPr/>
        </p:nvSpPr>
        <p:spPr>
          <a:xfrm>
            <a:off x="2084832" y="2770632"/>
            <a:ext cx="27190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PVM Energy Bar</a:t>
            </a:r>
          </a:p>
        </p:txBody>
      </p:sp>
      <p:sp>
        <p:nvSpPr>
          <p:cNvPr id="53" name="top-row-0-code"/>
          <p:cNvSpPr txBox="1"/>
          <p:nvPr/>
        </p:nvSpPr>
        <p:spPr>
          <a:xfrm>
            <a:off x="2084832" y="2916936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284C7"/>
                </a:solidFill>
                <a:latin typeface="Cascadia Code"/>
                <a:ea typeface="+mn-ea"/>
              </a:rPr>
              <a:t>go.pvm.co.za/4frr2zc5</a:t>
            </a:r>
          </a:p>
        </p:txBody>
      </p:sp>
      <p:sp>
        <p:nvSpPr>
          <p:cNvPr id="54" name="top-row-0-badge"/>
          <p:cNvSpPr/>
          <p:nvPr/>
        </p:nvSpPr>
        <p:spPr>
          <a:xfrm>
            <a:off x="4941326" y="2834640"/>
            <a:ext cx="658368" cy="16459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p-row-0-badge-text"/>
          <p:cNvSpPr txBox="1"/>
          <p:nvPr/>
        </p:nvSpPr>
        <p:spPr>
          <a:xfrm>
            <a:off x="4941326" y="2843784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56" name="top-row-0-clicks"/>
          <p:cNvSpPr txBox="1"/>
          <p:nvPr/>
        </p:nvSpPr>
        <p:spPr>
          <a:xfrm>
            <a:off x="6276126" y="2816352"/>
            <a:ext cx="5932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286</a:t>
            </a:r>
          </a:p>
        </p:txBody>
      </p:sp>
      <p:sp>
        <p:nvSpPr>
          <p:cNvPr id="57" name="top-row-1-bg"/>
          <p:cNvSpPr/>
          <p:nvPr/>
        </p:nvSpPr>
        <p:spPr>
          <a:xfrm>
            <a:off x="1975104" y="3099816"/>
            <a:ext cx="4943703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op-row-1-title"/>
          <p:cNvSpPr txBox="1"/>
          <p:nvPr/>
        </p:nvSpPr>
        <p:spPr>
          <a:xfrm>
            <a:off x="2084832" y="3136392"/>
            <a:ext cx="27190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Octane Pre-workout</a:t>
            </a:r>
          </a:p>
        </p:txBody>
      </p:sp>
      <p:sp>
        <p:nvSpPr>
          <p:cNvPr id="59" name="top-row-1-code"/>
          <p:cNvSpPr txBox="1"/>
          <p:nvPr/>
        </p:nvSpPr>
        <p:spPr>
          <a:xfrm>
            <a:off x="2084832" y="3282696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284C7"/>
                </a:solidFill>
                <a:latin typeface="Cascadia Code"/>
                <a:ea typeface="+mn-ea"/>
              </a:rPr>
              <a:t>go.pvm.co.za/oct-22</a:t>
            </a:r>
          </a:p>
        </p:txBody>
      </p:sp>
      <p:sp>
        <p:nvSpPr>
          <p:cNvPr id="60" name="top-row-1-badge"/>
          <p:cNvSpPr/>
          <p:nvPr/>
        </p:nvSpPr>
        <p:spPr>
          <a:xfrm>
            <a:off x="4941326" y="3200400"/>
            <a:ext cx="658368" cy="1645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op-row-1-badge-text"/>
          <p:cNvSpPr txBox="1"/>
          <p:nvPr/>
        </p:nvSpPr>
        <p:spPr>
          <a:xfrm>
            <a:off x="4941326" y="3209544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62" name="top-row-1-clicks"/>
          <p:cNvSpPr txBox="1"/>
          <p:nvPr/>
        </p:nvSpPr>
        <p:spPr>
          <a:xfrm>
            <a:off x="6276126" y="3182112"/>
            <a:ext cx="5932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214</a:t>
            </a:r>
          </a:p>
        </p:txBody>
      </p:sp>
      <p:sp>
        <p:nvSpPr>
          <p:cNvPr id="63" name="top-row-2-bg"/>
          <p:cNvSpPr/>
          <p:nvPr/>
        </p:nvSpPr>
        <p:spPr>
          <a:xfrm>
            <a:off x="1975104" y="3465576"/>
            <a:ext cx="4943703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op-row-2-title"/>
          <p:cNvSpPr txBox="1"/>
          <p:nvPr/>
        </p:nvSpPr>
        <p:spPr>
          <a:xfrm>
            <a:off x="2084832" y="3502152"/>
            <a:ext cx="27190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Protein XTR — Combo</a:t>
            </a:r>
          </a:p>
        </p:txBody>
      </p:sp>
      <p:sp>
        <p:nvSpPr>
          <p:cNvPr id="65" name="top-row-2-code"/>
          <p:cNvSpPr txBox="1"/>
          <p:nvPr/>
        </p:nvSpPr>
        <p:spPr>
          <a:xfrm>
            <a:off x="2084832" y="3648456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284C7"/>
                </a:solidFill>
                <a:latin typeface="Cascadia Code"/>
                <a:ea typeface="+mn-ea"/>
              </a:rPr>
              <a:t>go.pvm.co.za/xtr-cmb</a:t>
            </a:r>
          </a:p>
        </p:txBody>
      </p:sp>
      <p:sp>
        <p:nvSpPr>
          <p:cNvPr id="66" name="top-row-2-badge"/>
          <p:cNvSpPr/>
          <p:nvPr/>
        </p:nvSpPr>
        <p:spPr>
          <a:xfrm>
            <a:off x="4941326" y="3566160"/>
            <a:ext cx="658368" cy="1645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op-row-2-badge-text"/>
          <p:cNvSpPr txBox="1"/>
          <p:nvPr/>
        </p:nvSpPr>
        <p:spPr>
          <a:xfrm>
            <a:off x="4941326" y="3575304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Segoe UI"/>
                <a:ea typeface="+mn-ea"/>
              </a:rPr>
              <a:t>Referral</a:t>
            </a:r>
          </a:p>
        </p:txBody>
      </p:sp>
      <p:sp>
        <p:nvSpPr>
          <p:cNvPr id="68" name="top-row-2-clicks"/>
          <p:cNvSpPr txBox="1"/>
          <p:nvPr/>
        </p:nvSpPr>
        <p:spPr>
          <a:xfrm>
            <a:off x="6276126" y="3547872"/>
            <a:ext cx="5932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198</a:t>
            </a:r>
          </a:p>
        </p:txBody>
      </p:sp>
      <p:sp>
        <p:nvSpPr>
          <p:cNvPr id="69" name="top-row-3-bg"/>
          <p:cNvSpPr/>
          <p:nvPr/>
        </p:nvSpPr>
        <p:spPr>
          <a:xfrm>
            <a:off x="1975104" y="3831336"/>
            <a:ext cx="4943703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op-row-3-title"/>
          <p:cNvSpPr txBox="1"/>
          <p:nvPr/>
        </p:nvSpPr>
        <p:spPr>
          <a:xfrm>
            <a:off x="2084832" y="3867912"/>
            <a:ext cx="27190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Fusion Meal Replacement</a:t>
            </a:r>
          </a:p>
        </p:txBody>
      </p:sp>
      <p:sp>
        <p:nvSpPr>
          <p:cNvPr id="71" name="top-row-3-code"/>
          <p:cNvSpPr txBox="1"/>
          <p:nvPr/>
        </p:nvSpPr>
        <p:spPr>
          <a:xfrm>
            <a:off x="2084832" y="4014216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284C7"/>
                </a:solidFill>
                <a:latin typeface="Cascadia Code"/>
                <a:ea typeface="+mn-ea"/>
              </a:rPr>
              <a:t>go.pvm.co.za/ptn-1</a:t>
            </a:r>
          </a:p>
        </p:txBody>
      </p:sp>
      <p:sp>
        <p:nvSpPr>
          <p:cNvPr id="72" name="top-row-3-badge"/>
          <p:cNvSpPr/>
          <p:nvPr/>
        </p:nvSpPr>
        <p:spPr>
          <a:xfrm>
            <a:off x="4941326" y="3931920"/>
            <a:ext cx="658368" cy="1645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op-row-3-badge-text"/>
          <p:cNvSpPr txBox="1"/>
          <p:nvPr/>
        </p:nvSpPr>
        <p:spPr>
          <a:xfrm>
            <a:off x="4941326" y="3941064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74" name="top-row-3-clicks"/>
          <p:cNvSpPr txBox="1"/>
          <p:nvPr/>
        </p:nvSpPr>
        <p:spPr>
          <a:xfrm>
            <a:off x="6276126" y="3913632"/>
            <a:ext cx="5932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147</a:t>
            </a:r>
          </a:p>
        </p:txBody>
      </p:sp>
      <p:sp>
        <p:nvSpPr>
          <p:cNvPr id="75" name="top-row-4-bg"/>
          <p:cNvSpPr/>
          <p:nvPr/>
        </p:nvSpPr>
        <p:spPr>
          <a:xfrm>
            <a:off x="1975104" y="4197096"/>
            <a:ext cx="4943703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op-row-4-title"/>
          <p:cNvSpPr txBox="1"/>
          <p:nvPr/>
        </p:nvSpPr>
        <p:spPr>
          <a:xfrm>
            <a:off x="2084832" y="4233672"/>
            <a:ext cx="27190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Reignite — Recovery Stack</a:t>
            </a:r>
          </a:p>
        </p:txBody>
      </p:sp>
      <p:sp>
        <p:nvSpPr>
          <p:cNvPr id="77" name="top-row-4-code"/>
          <p:cNvSpPr txBox="1"/>
          <p:nvPr/>
        </p:nvSpPr>
        <p:spPr>
          <a:xfrm>
            <a:off x="2084832" y="4379976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284C7"/>
                </a:solidFill>
                <a:latin typeface="Cascadia Code"/>
                <a:ea typeface="+mn-ea"/>
              </a:rPr>
              <a:t>go.pvm.co.za/rgn-r</a:t>
            </a:r>
          </a:p>
        </p:txBody>
      </p:sp>
      <p:sp>
        <p:nvSpPr>
          <p:cNvPr id="78" name="top-row-4-badge"/>
          <p:cNvSpPr/>
          <p:nvPr/>
        </p:nvSpPr>
        <p:spPr>
          <a:xfrm>
            <a:off x="4941326" y="4297680"/>
            <a:ext cx="658368" cy="1645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op-row-4-badge-text"/>
          <p:cNvSpPr txBox="1"/>
          <p:nvPr/>
        </p:nvSpPr>
        <p:spPr>
          <a:xfrm>
            <a:off x="4941326" y="4306824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D28D9"/>
                </a:solidFill>
                <a:latin typeface="Segoe UI"/>
                <a:ea typeface="+mn-ea"/>
              </a:rPr>
              <a:t>Event</a:t>
            </a:r>
          </a:p>
        </p:txBody>
      </p:sp>
      <p:sp>
        <p:nvSpPr>
          <p:cNvPr id="80" name="top-row-4-clicks"/>
          <p:cNvSpPr txBox="1"/>
          <p:nvPr/>
        </p:nvSpPr>
        <p:spPr>
          <a:xfrm>
            <a:off x="6276126" y="4279392"/>
            <a:ext cx="5932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112</a:t>
            </a:r>
          </a:p>
        </p:txBody>
      </p:sp>
      <p:sp>
        <p:nvSpPr>
          <p:cNvPr id="81" name="recent-card"/>
          <p:cNvSpPr/>
          <p:nvPr/>
        </p:nvSpPr>
        <p:spPr>
          <a:xfrm>
            <a:off x="7046823" y="2350008"/>
            <a:ext cx="4943703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ent-hd-bg"/>
          <p:cNvSpPr/>
          <p:nvPr/>
        </p:nvSpPr>
        <p:spPr>
          <a:xfrm>
            <a:off x="7046823" y="2350008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ent-hd-title"/>
          <p:cNvSpPr txBox="1"/>
          <p:nvPr/>
        </p:nvSpPr>
        <p:spPr>
          <a:xfrm>
            <a:off x="7174839" y="2404872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Recent Activity</a:t>
            </a:r>
          </a:p>
        </p:txBody>
      </p:sp>
      <p:sp>
        <p:nvSpPr>
          <p:cNvPr id="84" name="recent-hd-sub"/>
          <p:cNvSpPr txBox="1"/>
          <p:nvPr/>
        </p:nvSpPr>
        <p:spPr>
          <a:xfrm>
            <a:off x="7174839" y="2551176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Latest clicks and changes</a:t>
            </a:r>
          </a:p>
        </p:txBody>
      </p:sp>
      <p:sp>
        <p:nvSpPr>
          <p:cNvPr id="85" name="act-dot-0"/>
          <p:cNvSpPr/>
          <p:nvPr/>
        </p:nvSpPr>
        <p:spPr>
          <a:xfrm>
            <a:off x="7174839" y="2843784"/>
            <a:ext cx="7315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ct-main-0"/>
          <p:cNvSpPr txBox="1"/>
          <p:nvPr/>
        </p:nvSpPr>
        <p:spPr>
          <a:xfrm>
            <a:off x="7321143" y="2770632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PVM Energy Bar — matched click</a:t>
            </a:r>
          </a:p>
        </p:txBody>
      </p:sp>
      <p:sp>
        <p:nvSpPr>
          <p:cNvPr id="87" name="act-meta-0"/>
          <p:cNvSpPr txBox="1"/>
          <p:nvPr/>
        </p:nvSpPr>
        <p:spPr>
          <a:xfrm>
            <a:off x="7321143" y="2916936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go.pvm.co.za/4frr2zc5 · No referrer</a:t>
            </a:r>
          </a:p>
        </p:txBody>
      </p:sp>
      <p:sp>
        <p:nvSpPr>
          <p:cNvPr id="88" name="act-time-0"/>
          <p:cNvSpPr txBox="1"/>
          <p:nvPr/>
        </p:nvSpPr>
        <p:spPr>
          <a:xfrm>
            <a:off x="11167567" y="2807208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10:32</a:t>
            </a:r>
          </a:p>
        </p:txBody>
      </p:sp>
      <p:sp>
        <p:nvSpPr>
          <p:cNvPr id="89" name="act-dot-1"/>
          <p:cNvSpPr/>
          <p:nvPr/>
        </p:nvSpPr>
        <p:spPr>
          <a:xfrm>
            <a:off x="7174839" y="3172968"/>
            <a:ext cx="731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ct-main-1"/>
          <p:cNvSpPr txBox="1"/>
          <p:nvPr/>
        </p:nvSpPr>
        <p:spPr>
          <a:xfrm>
            <a:off x="7321143" y="3099816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New redirect — Reactor Sample Pack</a:t>
            </a:r>
          </a:p>
        </p:txBody>
      </p:sp>
      <p:sp>
        <p:nvSpPr>
          <p:cNvPr id="91" name="act-meta-1"/>
          <p:cNvSpPr txBox="1"/>
          <p:nvPr/>
        </p:nvSpPr>
        <p:spPr>
          <a:xfrm>
            <a:off x="7321143" y="3246120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go.pvm.co.za/rct-sp · Print / QR</a:t>
            </a:r>
          </a:p>
        </p:txBody>
      </p:sp>
      <p:sp>
        <p:nvSpPr>
          <p:cNvPr id="92" name="act-time-1"/>
          <p:cNvSpPr txBox="1"/>
          <p:nvPr/>
        </p:nvSpPr>
        <p:spPr>
          <a:xfrm>
            <a:off x="11167567" y="3136392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09:15</a:t>
            </a:r>
          </a:p>
        </p:txBody>
      </p:sp>
      <p:sp>
        <p:nvSpPr>
          <p:cNvPr id="93" name="act-dot-2"/>
          <p:cNvSpPr/>
          <p:nvPr/>
        </p:nvSpPr>
        <p:spPr>
          <a:xfrm>
            <a:off x="7174839" y="3502152"/>
            <a:ext cx="7315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ct-main-2"/>
          <p:cNvSpPr txBox="1"/>
          <p:nvPr/>
        </p:nvSpPr>
        <p:spPr>
          <a:xfrm>
            <a:off x="7321143" y="3429000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Octane Pre-workout — matched click</a:t>
            </a:r>
          </a:p>
        </p:txBody>
      </p:sp>
      <p:sp>
        <p:nvSpPr>
          <p:cNvPr id="95" name="act-meta-2"/>
          <p:cNvSpPr txBox="1"/>
          <p:nvPr/>
        </p:nvSpPr>
        <p:spPr>
          <a:xfrm>
            <a:off x="7321143" y="3575304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go.pvm.co.za/oct-22 · instagram.com</a:t>
            </a:r>
          </a:p>
        </p:txBody>
      </p:sp>
      <p:sp>
        <p:nvSpPr>
          <p:cNvPr id="96" name="act-time-2"/>
          <p:cNvSpPr txBox="1"/>
          <p:nvPr/>
        </p:nvSpPr>
        <p:spPr>
          <a:xfrm>
            <a:off x="11167567" y="3465576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08:47</a:t>
            </a:r>
          </a:p>
        </p:txBody>
      </p:sp>
      <p:sp>
        <p:nvSpPr>
          <p:cNvPr id="97" name="act-dot-3"/>
          <p:cNvSpPr/>
          <p:nvPr/>
        </p:nvSpPr>
        <p:spPr>
          <a:xfrm>
            <a:off x="7174839" y="3831336"/>
            <a:ext cx="731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ct-main-3"/>
          <p:cNvSpPr txBox="1"/>
          <p:nvPr/>
        </p:nvSpPr>
        <p:spPr>
          <a:xfrm>
            <a:off x="7321143" y="3758184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Fusion Meal Replacement — dest updated</a:t>
            </a:r>
          </a:p>
        </p:txBody>
      </p:sp>
      <p:sp>
        <p:nvSpPr>
          <p:cNvPr id="99" name="act-meta-3"/>
          <p:cNvSpPr txBox="1"/>
          <p:nvPr/>
        </p:nvSpPr>
        <p:spPr>
          <a:xfrm>
            <a:off x="7321143" y="3904488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Edited by Marius</a:t>
            </a:r>
          </a:p>
        </p:txBody>
      </p:sp>
      <p:sp>
        <p:nvSpPr>
          <p:cNvPr id="100" name="act-time-3"/>
          <p:cNvSpPr txBox="1"/>
          <p:nvPr/>
        </p:nvSpPr>
        <p:spPr>
          <a:xfrm>
            <a:off x="11167567" y="3794760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Yesterday</a:t>
            </a:r>
          </a:p>
        </p:txBody>
      </p:sp>
      <p:sp>
        <p:nvSpPr>
          <p:cNvPr id="101" name="act-dot-4"/>
          <p:cNvSpPr/>
          <p:nvPr/>
        </p:nvSpPr>
        <p:spPr>
          <a:xfrm>
            <a:off x="7174839" y="4160520"/>
            <a:ext cx="7315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ct-main-4"/>
          <p:cNvSpPr txBox="1"/>
          <p:nvPr/>
        </p:nvSpPr>
        <p:spPr>
          <a:xfrm>
            <a:off x="7321143" y="4087368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Protein XTR Combo — matched click</a:t>
            </a:r>
          </a:p>
        </p:txBody>
      </p:sp>
      <p:sp>
        <p:nvSpPr>
          <p:cNvPr id="103" name="act-meta-4"/>
          <p:cNvSpPr txBox="1"/>
          <p:nvPr/>
        </p:nvSpPr>
        <p:spPr>
          <a:xfrm>
            <a:off x="7321143" y="4233672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go.pvm.co.za/xtr-cmb · google.com</a:t>
            </a:r>
          </a:p>
        </p:txBody>
      </p:sp>
      <p:sp>
        <p:nvSpPr>
          <p:cNvPr id="104" name="act-time-4"/>
          <p:cNvSpPr txBox="1"/>
          <p:nvPr/>
        </p:nvSpPr>
        <p:spPr>
          <a:xfrm>
            <a:off x="11167567" y="4123944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Yesterday</a:t>
            </a:r>
          </a:p>
        </p:txBody>
      </p:sp>
      <p:sp>
        <p:nvSpPr>
          <p:cNvPr id="105" name="act-dot-5"/>
          <p:cNvSpPr/>
          <p:nvPr/>
        </p:nvSpPr>
        <p:spPr>
          <a:xfrm>
            <a:off x="7174839" y="4489704"/>
            <a:ext cx="73152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ct-main-5"/>
          <p:cNvSpPr txBox="1"/>
          <p:nvPr/>
        </p:nvSpPr>
        <p:spPr>
          <a:xfrm>
            <a:off x="7321143" y="4416552"/>
            <a:ext cx="42121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Summer Promo 2025 — redirect paused</a:t>
            </a:r>
          </a:p>
        </p:txBody>
      </p:sp>
      <p:sp>
        <p:nvSpPr>
          <p:cNvPr id="107" name="act-meta-5"/>
          <p:cNvSpPr txBox="1"/>
          <p:nvPr/>
        </p:nvSpPr>
        <p:spPr>
          <a:xfrm>
            <a:off x="7321143" y="4562856"/>
            <a:ext cx="421218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scadia Code"/>
                <a:ea typeface="+mn-ea"/>
              </a:rPr>
              <a:t>Campaign expired</a:t>
            </a:r>
          </a:p>
        </p:txBody>
      </p:sp>
      <p:sp>
        <p:nvSpPr>
          <p:cNvPr id="108" name="act-time-5"/>
          <p:cNvSpPr txBox="1"/>
          <p:nvPr/>
        </p:nvSpPr>
        <p:spPr>
          <a:xfrm>
            <a:off x="11167567" y="4453128"/>
            <a:ext cx="694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 days ago</a:t>
            </a:r>
          </a:p>
        </p:txBody>
      </p:sp>
      <p:sp>
        <p:nvSpPr>
          <p:cNvPr id="109" name="purpose-card"/>
          <p:cNvSpPr/>
          <p:nvPr/>
        </p:nvSpPr>
        <p:spPr>
          <a:xfrm>
            <a:off x="1975104" y="4782312"/>
            <a:ext cx="10015423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urpose-hd-bg"/>
          <p:cNvSpPr/>
          <p:nvPr/>
        </p:nvSpPr>
        <p:spPr>
          <a:xfrm>
            <a:off x="1975104" y="4782312"/>
            <a:ext cx="1001542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purpose-hd-title"/>
          <p:cNvSpPr txBox="1"/>
          <p:nvPr/>
        </p:nvSpPr>
        <p:spPr>
          <a:xfrm>
            <a:off x="2103120" y="4837176"/>
            <a:ext cx="9759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Purpose breakdown</a:t>
            </a:r>
          </a:p>
        </p:txBody>
      </p:sp>
      <p:sp>
        <p:nvSpPr>
          <p:cNvPr id="112" name="purpose-hd-sub"/>
          <p:cNvSpPr txBox="1"/>
          <p:nvPr/>
        </p:nvSpPr>
        <p:spPr>
          <a:xfrm>
            <a:off x="2103120" y="4983480"/>
            <a:ext cx="975939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Distribution across 42 redirects</a:t>
            </a:r>
          </a:p>
        </p:txBody>
      </p:sp>
      <p:sp>
        <p:nvSpPr>
          <p:cNvPr id="113" name="pb-badge-0"/>
          <p:cNvSpPr/>
          <p:nvPr/>
        </p:nvSpPr>
        <p:spPr>
          <a:xfrm>
            <a:off x="2103120" y="5129784"/>
            <a:ext cx="658368" cy="1645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b-badge-0-text"/>
          <p:cNvSpPr txBox="1"/>
          <p:nvPr/>
        </p:nvSpPr>
        <p:spPr>
          <a:xfrm>
            <a:off x="2103120" y="51389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115" name="pb-count-0"/>
          <p:cNvSpPr txBox="1"/>
          <p:nvPr/>
        </p:nvSpPr>
        <p:spPr>
          <a:xfrm>
            <a:off x="2816352" y="5148072"/>
            <a:ext cx="165803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18</a:t>
            </a:r>
          </a:p>
        </p:txBody>
      </p:sp>
      <p:sp>
        <p:nvSpPr>
          <p:cNvPr id="116" name="pb-prog-0-track"/>
          <p:cNvSpPr/>
          <p:nvPr/>
        </p:nvSpPr>
        <p:spPr>
          <a:xfrm>
            <a:off x="2103120" y="5349240"/>
            <a:ext cx="2389555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pb-prog-0-fill"/>
          <p:cNvSpPr/>
          <p:nvPr/>
        </p:nvSpPr>
        <p:spPr>
          <a:xfrm>
            <a:off x="2103120" y="5349240"/>
            <a:ext cx="1027508" cy="502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b-label-0"/>
          <p:cNvSpPr txBox="1"/>
          <p:nvPr/>
        </p:nvSpPr>
        <p:spPr>
          <a:xfrm>
            <a:off x="2103120" y="5458968"/>
            <a:ext cx="238955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43% · 18 redirects</a:t>
            </a:r>
          </a:p>
        </p:txBody>
      </p:sp>
      <p:sp>
        <p:nvSpPr>
          <p:cNvPr id="119" name="pb-badge-1"/>
          <p:cNvSpPr/>
          <p:nvPr/>
        </p:nvSpPr>
        <p:spPr>
          <a:xfrm>
            <a:off x="4638979" y="5129784"/>
            <a:ext cx="658368" cy="16459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b-badge-1-text"/>
          <p:cNvSpPr txBox="1"/>
          <p:nvPr/>
        </p:nvSpPr>
        <p:spPr>
          <a:xfrm>
            <a:off x="4638979" y="51389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121" name="pb-count-1"/>
          <p:cNvSpPr txBox="1"/>
          <p:nvPr/>
        </p:nvSpPr>
        <p:spPr>
          <a:xfrm>
            <a:off x="5352211" y="5148072"/>
            <a:ext cx="165803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29</a:t>
            </a:r>
          </a:p>
        </p:txBody>
      </p:sp>
      <p:sp>
        <p:nvSpPr>
          <p:cNvPr id="122" name="pb-prog-1-track"/>
          <p:cNvSpPr/>
          <p:nvPr/>
        </p:nvSpPr>
        <p:spPr>
          <a:xfrm>
            <a:off x="4638979" y="5349240"/>
            <a:ext cx="2389555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b-prog-1-fill"/>
          <p:cNvSpPr/>
          <p:nvPr/>
        </p:nvSpPr>
        <p:spPr>
          <a:xfrm>
            <a:off x="4638979" y="5349240"/>
            <a:ext cx="692971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b-label-1"/>
          <p:cNvSpPr txBox="1"/>
          <p:nvPr/>
        </p:nvSpPr>
        <p:spPr>
          <a:xfrm>
            <a:off x="4638979" y="5458968"/>
            <a:ext cx="238955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29% · 12 redirects</a:t>
            </a:r>
          </a:p>
        </p:txBody>
      </p:sp>
      <p:sp>
        <p:nvSpPr>
          <p:cNvPr id="125" name="pb-badge-2"/>
          <p:cNvSpPr/>
          <p:nvPr/>
        </p:nvSpPr>
        <p:spPr>
          <a:xfrm>
            <a:off x="7174839" y="5129784"/>
            <a:ext cx="658368" cy="1645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b-badge-2-text"/>
          <p:cNvSpPr txBox="1"/>
          <p:nvPr/>
        </p:nvSpPr>
        <p:spPr>
          <a:xfrm>
            <a:off x="7174839" y="51389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Segoe UI"/>
                <a:ea typeface="+mn-ea"/>
              </a:rPr>
              <a:t>Referral</a:t>
            </a:r>
          </a:p>
        </p:txBody>
      </p:sp>
      <p:sp>
        <p:nvSpPr>
          <p:cNvPr id="127" name="pb-count-2"/>
          <p:cNvSpPr txBox="1"/>
          <p:nvPr/>
        </p:nvSpPr>
        <p:spPr>
          <a:xfrm>
            <a:off x="7888071" y="5148072"/>
            <a:ext cx="165803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8</a:t>
            </a:r>
          </a:p>
        </p:txBody>
      </p:sp>
      <p:sp>
        <p:nvSpPr>
          <p:cNvPr id="128" name="pb-prog-2-track"/>
          <p:cNvSpPr/>
          <p:nvPr/>
        </p:nvSpPr>
        <p:spPr>
          <a:xfrm>
            <a:off x="7174839" y="5349240"/>
            <a:ext cx="2389555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b-prog-2-fill"/>
          <p:cNvSpPr/>
          <p:nvPr/>
        </p:nvSpPr>
        <p:spPr>
          <a:xfrm>
            <a:off x="7174839" y="5349240"/>
            <a:ext cx="454015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b-label-2"/>
          <p:cNvSpPr txBox="1"/>
          <p:nvPr/>
        </p:nvSpPr>
        <p:spPr>
          <a:xfrm>
            <a:off x="7174839" y="5458968"/>
            <a:ext cx="238955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19% · 8 redirects</a:t>
            </a:r>
          </a:p>
        </p:txBody>
      </p:sp>
      <p:sp>
        <p:nvSpPr>
          <p:cNvPr id="131" name="pb-badge-3"/>
          <p:cNvSpPr/>
          <p:nvPr/>
        </p:nvSpPr>
        <p:spPr>
          <a:xfrm>
            <a:off x="9710699" y="5129784"/>
            <a:ext cx="658368" cy="1645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b-badge-3-text"/>
          <p:cNvSpPr txBox="1"/>
          <p:nvPr/>
        </p:nvSpPr>
        <p:spPr>
          <a:xfrm>
            <a:off x="9710699" y="51389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D28D9"/>
                </a:solidFill>
                <a:latin typeface="Segoe UI"/>
                <a:ea typeface="+mn-ea"/>
              </a:rPr>
              <a:t>Event</a:t>
            </a:r>
          </a:p>
        </p:txBody>
      </p:sp>
      <p:sp>
        <p:nvSpPr>
          <p:cNvPr id="133" name="pb-count-3"/>
          <p:cNvSpPr txBox="1"/>
          <p:nvPr/>
        </p:nvSpPr>
        <p:spPr>
          <a:xfrm>
            <a:off x="10423931" y="5148072"/>
            <a:ext cx="165803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4</a:t>
            </a:r>
          </a:p>
        </p:txBody>
      </p:sp>
      <p:sp>
        <p:nvSpPr>
          <p:cNvPr id="134" name="pb-prog-3-track"/>
          <p:cNvSpPr/>
          <p:nvPr/>
        </p:nvSpPr>
        <p:spPr>
          <a:xfrm>
            <a:off x="9710699" y="5349240"/>
            <a:ext cx="2389555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b-prog-3-fill"/>
          <p:cNvSpPr/>
          <p:nvPr/>
        </p:nvSpPr>
        <p:spPr>
          <a:xfrm>
            <a:off x="9710699" y="5349240"/>
            <a:ext cx="238955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b-label-3"/>
          <p:cNvSpPr txBox="1"/>
          <p:nvPr/>
        </p:nvSpPr>
        <p:spPr>
          <a:xfrm>
            <a:off x="9710699" y="5458968"/>
            <a:ext cx="2389555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10% · 4 redirects</a:t>
            </a:r>
          </a:p>
        </p:txBody>
      </p:sp>
      <p:sp>
        <p:nvSpPr>
          <p:cNvPr id="137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Screen 01 — Dashboard</a:t>
            </a:r>
          </a:p>
        </p:txBody>
      </p:sp>
      <p:sp>
        <p:nvSpPr>
          <p:cNvPr id="138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ipe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-sidebar-bg"/>
          <p:cNvSpPr/>
          <p:nvPr/>
        </p:nvSpPr>
        <p:spPr>
          <a:xfrm>
            <a:off x="0" y="0"/>
            <a:ext cx="1737360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debar-accent-stripe"/>
          <p:cNvSpPr/>
          <p:nvPr/>
        </p:nvSpPr>
        <p:spPr>
          <a:xfrm>
            <a:off x="0" y="0"/>
            <a:ext cx="1737360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debar-logo-bg"/>
          <p:cNvSpPr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idebar-logo"/>
          <p:cNvSpPr txBox="1"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35"/>
                </a:solidFill>
                <a:latin typeface="Segoe UI"/>
                <a:ea typeface="+mn-ea"/>
              </a:rPr>
              <a:t>P</a:t>
            </a:r>
          </a:p>
        </p:txBody>
      </p:sp>
      <p:sp>
        <p:nvSpPr>
          <p:cNvPr id="7" name="sidebar-name"/>
          <p:cNvSpPr txBox="1"/>
          <p:nvPr/>
        </p:nvSpPr>
        <p:spPr>
          <a:xfrm>
            <a:off x="512064" y="146304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8" name="sidebar-sub"/>
          <p:cNvSpPr txBox="1"/>
          <p:nvPr/>
        </p:nvSpPr>
        <p:spPr>
          <a:xfrm>
            <a:off x="512064" y="301752"/>
            <a:ext cx="11155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spc="120">
                <a:solidFill>
                  <a:srgbClr val="9BA0A6"/>
                </a:solidFill>
                <a:latin typeface="Segoe UI"/>
                <a:ea typeface="+mn-ea"/>
              </a:rPr>
              <a:t>MANAGED REDIRECTS</a:t>
            </a:r>
          </a:p>
        </p:txBody>
      </p:sp>
      <p:sp>
        <p:nvSpPr>
          <p:cNvPr id="9" name="sidebar-section-overview"/>
          <p:cNvSpPr txBox="1"/>
          <p:nvPr/>
        </p:nvSpPr>
        <p:spPr>
          <a:xfrm>
            <a:off x="164592" y="5669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OVERVIEW</a:t>
            </a:r>
          </a:p>
        </p:txBody>
      </p:sp>
      <p:sp>
        <p:nvSpPr>
          <p:cNvPr id="10" name="sidebar-item-dashboard"/>
          <p:cNvSpPr txBox="1"/>
          <p:nvPr/>
        </p:nvSpPr>
        <p:spPr>
          <a:xfrm>
            <a:off x="201168" y="749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11" name="sidebar-section-redirects"/>
          <p:cNvSpPr txBox="1"/>
          <p:nvPr/>
        </p:nvSpPr>
        <p:spPr>
          <a:xfrm>
            <a:off x="164592" y="10241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12" name="sidebar-active-bg-redirects"/>
          <p:cNvSpPr/>
          <p:nvPr/>
        </p:nvSpPr>
        <p:spPr>
          <a:xfrm>
            <a:off x="91440" y="1188720"/>
            <a:ext cx="1554480" cy="256032"/>
          </a:xfrm>
          <a:prstGeom prst="rect">
            <a:avLst/>
          </a:prstGeom>
          <a:solidFill>
            <a:srgbClr val="1A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idebar-item-all-redirects"/>
          <p:cNvSpPr txBox="1"/>
          <p:nvPr/>
        </p:nvSpPr>
        <p:spPr>
          <a:xfrm>
            <a:off x="201168" y="1207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400"/>
                </a:solidFill>
                <a:latin typeface="Segoe UI"/>
                <a:ea typeface="+mn-ea"/>
              </a:rPr>
              <a:t>All Redirects</a:t>
            </a:r>
          </a:p>
        </p:txBody>
      </p:sp>
      <p:sp>
        <p:nvSpPr>
          <p:cNvPr id="14" name="sidebar-item-new-redirect"/>
          <p:cNvSpPr txBox="1"/>
          <p:nvPr/>
        </p:nvSpPr>
        <p:spPr>
          <a:xfrm>
            <a:off x="201168" y="1481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15" name="sidebar-section-organisation"/>
          <p:cNvSpPr txBox="1"/>
          <p:nvPr/>
        </p:nvSpPr>
        <p:spPr>
          <a:xfrm>
            <a:off x="164592" y="17556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16" name="sidebar-item-tags-&amp;-categories"/>
          <p:cNvSpPr txBox="1"/>
          <p:nvPr/>
        </p:nvSpPr>
        <p:spPr>
          <a:xfrm>
            <a:off x="201168" y="1938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17" name="sidebar-section-system"/>
          <p:cNvSpPr txBox="1"/>
          <p:nvPr/>
        </p:nvSpPr>
        <p:spPr>
          <a:xfrm>
            <a:off x="164592" y="22128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SYSTEM</a:t>
            </a:r>
          </a:p>
        </p:txBody>
      </p:sp>
      <p:sp>
        <p:nvSpPr>
          <p:cNvPr id="18" name="sidebar-item-settings"/>
          <p:cNvSpPr txBox="1"/>
          <p:nvPr/>
        </p:nvSpPr>
        <p:spPr>
          <a:xfrm>
            <a:off x="201168" y="2395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Settings</a:t>
            </a:r>
          </a:p>
        </p:txBody>
      </p:sp>
      <p:sp>
        <p:nvSpPr>
          <p:cNvPr id="19" name="sidebar-user-bg"/>
          <p:cNvSpPr/>
          <p:nvPr/>
        </p:nvSpPr>
        <p:spPr>
          <a:xfrm>
            <a:off x="91440" y="6309360"/>
            <a:ext cx="1554480" cy="310896"/>
          </a:xfrm>
          <a:prstGeom prst="rect">
            <a:avLst/>
          </a:prstGeom>
          <a:solidFill>
            <a:srgbClr val="1A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bar-av-bg"/>
          <p:cNvSpPr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bar-av"/>
          <p:cNvSpPr txBox="1"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+mn-ea"/>
              </a:rPr>
              <a:t>M</a:t>
            </a:r>
          </a:p>
        </p:txBody>
      </p:sp>
      <p:sp>
        <p:nvSpPr>
          <p:cNvPr id="22" name="sidebar-user-name"/>
          <p:cNvSpPr txBox="1"/>
          <p:nvPr/>
        </p:nvSpPr>
        <p:spPr>
          <a:xfrm>
            <a:off x="457200" y="63550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0D6"/>
                </a:solidFill>
                <a:latin typeface="Segoe UI"/>
                <a:ea typeface="+mn-ea"/>
              </a:rPr>
              <a:t>Marius</a:t>
            </a:r>
          </a:p>
        </p:txBody>
      </p:sp>
      <p:sp>
        <p:nvSpPr>
          <p:cNvPr id="23" name="sidebar-user-role"/>
          <p:cNvSpPr txBox="1"/>
          <p:nvPr/>
        </p:nvSpPr>
        <p:spPr>
          <a:xfrm>
            <a:off x="457200" y="649224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28090"/>
                </a:solidFill>
                <a:latin typeface="Segoe UI"/>
                <a:ea typeface="+mn-ea"/>
              </a:rPr>
              <a:t>Administrator</a:t>
            </a:r>
          </a:p>
        </p:txBody>
      </p:sp>
      <p:sp>
        <p:nvSpPr>
          <p:cNvPr id="24" name="topbar-bg"/>
          <p:cNvSpPr/>
          <p:nvPr/>
        </p:nvSpPr>
        <p:spPr>
          <a:xfrm>
            <a:off x="1737360" y="0"/>
            <a:ext cx="104543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bar-bc"/>
          <p:cNvSpPr txBox="1"/>
          <p:nvPr/>
        </p:nvSpPr>
        <p:spPr>
          <a:xfrm>
            <a:off x="1938528" y="109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PVM URL Admin  ›  All Redirects</a:t>
            </a:r>
          </a:p>
        </p:txBody>
      </p:sp>
      <p:sp>
        <p:nvSpPr>
          <p:cNvPr id="26" name="topbar-btn-bg"/>
          <p:cNvSpPr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bar-btn"/>
          <p:cNvSpPr txBox="1"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+ New redirect</a:t>
            </a:r>
          </a:p>
        </p:txBody>
      </p:sp>
      <p:sp>
        <p:nvSpPr>
          <p:cNvPr id="28" name="pg-eyebrow"/>
          <p:cNvSpPr txBox="1"/>
          <p:nvPr/>
        </p:nvSpPr>
        <p:spPr>
          <a:xfrm>
            <a:off x="1993392" y="612648"/>
            <a:ext cx="994227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120">
                <a:solidFill>
                  <a:srgbClr val="6B7280"/>
                </a:solidFill>
                <a:latin typeface="Segoe UI"/>
                <a:ea typeface="+mn-ea"/>
              </a:rPr>
              <a:t>Admin Console</a:t>
            </a:r>
          </a:p>
        </p:txBody>
      </p:sp>
      <p:sp>
        <p:nvSpPr>
          <p:cNvPr id="29" name="pg-title"/>
          <p:cNvSpPr txBox="1"/>
          <p:nvPr/>
        </p:nvSpPr>
        <p:spPr>
          <a:xfrm>
            <a:off x="1993392" y="777240"/>
            <a:ext cx="9942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35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30" name="pg-desc"/>
          <p:cNvSpPr txBox="1"/>
          <p:nvPr/>
        </p:nvSpPr>
        <p:spPr>
          <a:xfrm>
            <a:off x="1993392" y="1088136"/>
            <a:ext cx="99422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  <a:ea typeface="+mn-ea"/>
              </a:rPr>
              <a:t>Manage stable printed, QR, and campaign URLs.</a:t>
            </a:r>
          </a:p>
        </p:txBody>
      </p:sp>
      <p:sp>
        <p:nvSpPr>
          <p:cNvPr id="31" name="redirects-card"/>
          <p:cNvSpPr/>
          <p:nvPr/>
        </p:nvSpPr>
        <p:spPr>
          <a:xfrm>
            <a:off x="1975104" y="1417320"/>
            <a:ext cx="10015423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arch-box"/>
          <p:cNvSpPr/>
          <p:nvPr/>
        </p:nvSpPr>
        <p:spPr>
          <a:xfrm>
            <a:off x="2084832" y="1490472"/>
            <a:ext cx="2560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arch-placeholder"/>
          <p:cNvSpPr txBox="1"/>
          <p:nvPr/>
        </p:nvSpPr>
        <p:spPr>
          <a:xfrm>
            <a:off x="2212848" y="154533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  <a:ea typeface="+mn-ea"/>
              </a:rPr>
              <a:t>Code, title, tag, or destination…</a:t>
            </a:r>
          </a:p>
        </p:txBody>
      </p:sp>
      <p:sp>
        <p:nvSpPr>
          <p:cNvPr id="34" name="filter-0"/>
          <p:cNvSpPr/>
          <p:nvPr/>
        </p:nvSpPr>
        <p:spPr>
          <a:xfrm>
            <a:off x="4809744" y="1490472"/>
            <a:ext cx="104241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ilter-lbl-0"/>
          <p:cNvSpPr txBox="1"/>
          <p:nvPr/>
        </p:nvSpPr>
        <p:spPr>
          <a:xfrm>
            <a:off x="4864608" y="1545336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All categories</a:t>
            </a:r>
          </a:p>
        </p:txBody>
      </p:sp>
      <p:sp>
        <p:nvSpPr>
          <p:cNvPr id="36" name="filter-1"/>
          <p:cNvSpPr/>
          <p:nvPr/>
        </p:nvSpPr>
        <p:spPr>
          <a:xfrm>
            <a:off x="5925312" y="1490472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ilter-lbl-1"/>
          <p:cNvSpPr txBox="1"/>
          <p:nvPr/>
        </p:nvSpPr>
        <p:spPr>
          <a:xfrm>
            <a:off x="5980176" y="1545336"/>
            <a:ext cx="8595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All purposes</a:t>
            </a:r>
          </a:p>
        </p:txBody>
      </p:sp>
      <p:sp>
        <p:nvSpPr>
          <p:cNvPr id="38" name="filter-2"/>
          <p:cNvSpPr/>
          <p:nvPr/>
        </p:nvSpPr>
        <p:spPr>
          <a:xfrm>
            <a:off x="7040880" y="1490472"/>
            <a:ext cx="9326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ilter-lbl-2"/>
          <p:cNvSpPr txBox="1"/>
          <p:nvPr/>
        </p:nvSpPr>
        <p:spPr>
          <a:xfrm>
            <a:off x="7095744" y="1545336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All statuses</a:t>
            </a:r>
          </a:p>
        </p:txBody>
      </p:sp>
      <p:sp>
        <p:nvSpPr>
          <p:cNvPr id="40" name="th-bg"/>
          <p:cNvSpPr/>
          <p:nvPr/>
        </p:nvSpPr>
        <p:spPr>
          <a:xfrm>
            <a:off x="1975104" y="1819656"/>
            <a:ext cx="10015423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h-Short URL"/>
          <p:cNvSpPr txBox="1"/>
          <p:nvPr/>
        </p:nvSpPr>
        <p:spPr>
          <a:xfrm>
            <a:off x="2029968" y="1865376"/>
            <a:ext cx="213024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SHORT URL</a:t>
            </a:r>
          </a:p>
        </p:txBody>
      </p:sp>
      <p:sp>
        <p:nvSpPr>
          <p:cNvPr id="42" name="th-Title / Destination"/>
          <p:cNvSpPr txBox="1"/>
          <p:nvPr/>
        </p:nvSpPr>
        <p:spPr>
          <a:xfrm>
            <a:off x="4233361" y="1865376"/>
            <a:ext cx="253085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TITLE / DESTINATION</a:t>
            </a:r>
          </a:p>
        </p:txBody>
      </p:sp>
      <p:sp>
        <p:nvSpPr>
          <p:cNvPr id="43" name="th-Category"/>
          <p:cNvSpPr txBox="1"/>
          <p:nvPr/>
        </p:nvSpPr>
        <p:spPr>
          <a:xfrm>
            <a:off x="6837371" y="1865376"/>
            <a:ext cx="92839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CATEGORY</a:t>
            </a:r>
          </a:p>
        </p:txBody>
      </p:sp>
      <p:sp>
        <p:nvSpPr>
          <p:cNvPr id="44" name="th-Purpose"/>
          <p:cNvSpPr txBox="1"/>
          <p:nvPr/>
        </p:nvSpPr>
        <p:spPr>
          <a:xfrm>
            <a:off x="7838913" y="1865376"/>
            <a:ext cx="92839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PURPOSE</a:t>
            </a:r>
          </a:p>
        </p:txBody>
      </p:sp>
      <p:sp>
        <p:nvSpPr>
          <p:cNvPr id="45" name="th-Tags"/>
          <p:cNvSpPr txBox="1"/>
          <p:nvPr/>
        </p:nvSpPr>
        <p:spPr>
          <a:xfrm>
            <a:off x="8840455" y="1865376"/>
            <a:ext cx="112869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TAGS</a:t>
            </a:r>
          </a:p>
        </p:txBody>
      </p:sp>
      <p:sp>
        <p:nvSpPr>
          <p:cNvPr id="46" name="th-Clicks"/>
          <p:cNvSpPr txBox="1"/>
          <p:nvPr/>
        </p:nvSpPr>
        <p:spPr>
          <a:xfrm>
            <a:off x="10042306" y="1865376"/>
            <a:ext cx="72808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CLICKS</a:t>
            </a:r>
          </a:p>
        </p:txBody>
      </p:sp>
      <p:sp>
        <p:nvSpPr>
          <p:cNvPr id="47" name="th-Status"/>
          <p:cNvSpPr txBox="1"/>
          <p:nvPr/>
        </p:nvSpPr>
        <p:spPr>
          <a:xfrm>
            <a:off x="10843540" y="1865376"/>
            <a:ext cx="6279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STATUS</a:t>
            </a:r>
          </a:p>
        </p:txBody>
      </p:sp>
      <p:sp>
        <p:nvSpPr>
          <p:cNvPr id="48" name="th-Updated"/>
          <p:cNvSpPr txBox="1"/>
          <p:nvPr/>
        </p:nvSpPr>
        <p:spPr>
          <a:xfrm>
            <a:off x="11544619" y="1865376"/>
            <a:ext cx="42761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UPDATED</a:t>
            </a:r>
          </a:p>
        </p:txBody>
      </p:sp>
      <p:sp>
        <p:nvSpPr>
          <p:cNvPr id="49" name="tr-0-bg"/>
          <p:cNvSpPr/>
          <p:nvPr/>
        </p:nvSpPr>
        <p:spPr>
          <a:xfrm>
            <a:off x="1975104" y="2039112"/>
            <a:ext cx="10015423" cy="384048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r-0-col-0"/>
          <p:cNvSpPr txBox="1"/>
          <p:nvPr/>
        </p:nvSpPr>
        <p:spPr>
          <a:xfrm>
            <a:off x="2029968" y="2130552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go.pvm.co.za/4frr2zc5</a:t>
            </a:r>
          </a:p>
        </p:txBody>
      </p:sp>
      <p:sp>
        <p:nvSpPr>
          <p:cNvPr id="51" name="tr-0-col-1"/>
          <p:cNvSpPr txBox="1"/>
          <p:nvPr/>
        </p:nvSpPr>
        <p:spPr>
          <a:xfrm>
            <a:off x="4233361" y="2130552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PVM Energy Bar</a:t>
            </a:r>
          </a:p>
        </p:txBody>
      </p:sp>
      <p:sp>
        <p:nvSpPr>
          <p:cNvPr id="52" name="tr-0-col-2"/>
          <p:cNvSpPr txBox="1"/>
          <p:nvPr/>
        </p:nvSpPr>
        <p:spPr>
          <a:xfrm>
            <a:off x="6837371" y="2130552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General</a:t>
            </a:r>
          </a:p>
        </p:txBody>
      </p:sp>
      <p:sp>
        <p:nvSpPr>
          <p:cNvPr id="53" name="tr-0-col-3"/>
          <p:cNvSpPr txBox="1"/>
          <p:nvPr/>
        </p:nvSpPr>
        <p:spPr>
          <a:xfrm>
            <a:off x="7838913" y="2130552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54" name="tr-0-col-4"/>
          <p:cNvSpPr txBox="1"/>
          <p:nvPr/>
        </p:nvSpPr>
        <p:spPr>
          <a:xfrm>
            <a:off x="8840455" y="2130552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packaging, social</a:t>
            </a:r>
          </a:p>
        </p:txBody>
      </p:sp>
      <p:sp>
        <p:nvSpPr>
          <p:cNvPr id="55" name="tr-0-col-5"/>
          <p:cNvSpPr txBox="1"/>
          <p:nvPr/>
        </p:nvSpPr>
        <p:spPr>
          <a:xfrm>
            <a:off x="10042306" y="2130552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286</a:t>
            </a:r>
          </a:p>
        </p:txBody>
      </p:sp>
      <p:sp>
        <p:nvSpPr>
          <p:cNvPr id="56" name="tr-0-col-6"/>
          <p:cNvSpPr txBox="1"/>
          <p:nvPr/>
        </p:nvSpPr>
        <p:spPr>
          <a:xfrm>
            <a:off x="10843540" y="2130552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57" name="tr-0-col-7"/>
          <p:cNvSpPr txBox="1"/>
          <p:nvPr/>
        </p:nvSpPr>
        <p:spPr>
          <a:xfrm>
            <a:off x="11544619" y="2130552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2026/05/13</a:t>
            </a:r>
          </a:p>
        </p:txBody>
      </p:sp>
      <p:sp>
        <p:nvSpPr>
          <p:cNvPr id="58" name="tr-1-bg"/>
          <p:cNvSpPr/>
          <p:nvPr/>
        </p:nvSpPr>
        <p:spPr>
          <a:xfrm>
            <a:off x="1975104" y="2423160"/>
            <a:ext cx="10015423" cy="384048"/>
          </a:xfrm>
          <a:prstGeom prst="rect">
            <a:avLst/>
          </a:prstGeom>
          <a:solidFill>
            <a:srgbClr val="EEF1F5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r-1-col-0"/>
          <p:cNvSpPr txBox="1"/>
          <p:nvPr/>
        </p:nvSpPr>
        <p:spPr>
          <a:xfrm>
            <a:off x="2029968" y="2514600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go.pvm.co.za/oct-22</a:t>
            </a:r>
          </a:p>
        </p:txBody>
      </p:sp>
      <p:sp>
        <p:nvSpPr>
          <p:cNvPr id="60" name="tr-1-col-1"/>
          <p:cNvSpPr txBox="1"/>
          <p:nvPr/>
        </p:nvSpPr>
        <p:spPr>
          <a:xfrm>
            <a:off x="4233361" y="2514600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Octane Pre-workout</a:t>
            </a:r>
          </a:p>
        </p:txBody>
      </p:sp>
      <p:sp>
        <p:nvSpPr>
          <p:cNvPr id="61" name="tr-1-col-2"/>
          <p:cNvSpPr txBox="1"/>
          <p:nvPr/>
        </p:nvSpPr>
        <p:spPr>
          <a:xfrm>
            <a:off x="6837371" y="2514600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Products</a:t>
            </a:r>
          </a:p>
        </p:txBody>
      </p:sp>
      <p:sp>
        <p:nvSpPr>
          <p:cNvPr id="62" name="tr-1-col-3"/>
          <p:cNvSpPr txBox="1"/>
          <p:nvPr/>
        </p:nvSpPr>
        <p:spPr>
          <a:xfrm>
            <a:off x="7838913" y="2514600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63" name="tr-1-col-4"/>
          <p:cNvSpPr txBox="1"/>
          <p:nvPr/>
        </p:nvSpPr>
        <p:spPr>
          <a:xfrm>
            <a:off x="8840455" y="2514600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packaging</a:t>
            </a:r>
          </a:p>
        </p:txBody>
      </p:sp>
      <p:sp>
        <p:nvSpPr>
          <p:cNvPr id="64" name="tr-1-col-5"/>
          <p:cNvSpPr txBox="1"/>
          <p:nvPr/>
        </p:nvSpPr>
        <p:spPr>
          <a:xfrm>
            <a:off x="10042306" y="2514600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214</a:t>
            </a:r>
          </a:p>
        </p:txBody>
      </p:sp>
      <p:sp>
        <p:nvSpPr>
          <p:cNvPr id="65" name="tr-1-col-6"/>
          <p:cNvSpPr txBox="1"/>
          <p:nvPr/>
        </p:nvSpPr>
        <p:spPr>
          <a:xfrm>
            <a:off x="10843540" y="2514600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66" name="tr-1-col-7"/>
          <p:cNvSpPr txBox="1"/>
          <p:nvPr/>
        </p:nvSpPr>
        <p:spPr>
          <a:xfrm>
            <a:off x="11544619" y="2514600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2026/05/12</a:t>
            </a:r>
          </a:p>
        </p:txBody>
      </p:sp>
      <p:sp>
        <p:nvSpPr>
          <p:cNvPr id="67" name="tr-2-bg"/>
          <p:cNvSpPr/>
          <p:nvPr/>
        </p:nvSpPr>
        <p:spPr>
          <a:xfrm>
            <a:off x="1975104" y="2807208"/>
            <a:ext cx="10015423" cy="384048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-2-col-0"/>
          <p:cNvSpPr txBox="1"/>
          <p:nvPr/>
        </p:nvSpPr>
        <p:spPr>
          <a:xfrm>
            <a:off x="2029968" y="2898648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go.pvm.co.za/xtr-cmb</a:t>
            </a:r>
          </a:p>
        </p:txBody>
      </p:sp>
      <p:sp>
        <p:nvSpPr>
          <p:cNvPr id="69" name="tr-2-col-1"/>
          <p:cNvSpPr txBox="1"/>
          <p:nvPr/>
        </p:nvSpPr>
        <p:spPr>
          <a:xfrm>
            <a:off x="4233361" y="2898648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Protein XTR — Combo</a:t>
            </a:r>
          </a:p>
        </p:txBody>
      </p:sp>
      <p:sp>
        <p:nvSpPr>
          <p:cNvPr id="70" name="tr-2-col-2"/>
          <p:cNvSpPr txBox="1"/>
          <p:nvPr/>
        </p:nvSpPr>
        <p:spPr>
          <a:xfrm>
            <a:off x="6837371" y="2898648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Products</a:t>
            </a:r>
          </a:p>
        </p:txBody>
      </p:sp>
      <p:sp>
        <p:nvSpPr>
          <p:cNvPr id="71" name="tr-2-col-3"/>
          <p:cNvSpPr txBox="1"/>
          <p:nvPr/>
        </p:nvSpPr>
        <p:spPr>
          <a:xfrm>
            <a:off x="7838913" y="2898648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Referral</a:t>
            </a:r>
          </a:p>
        </p:txBody>
      </p:sp>
      <p:sp>
        <p:nvSpPr>
          <p:cNvPr id="72" name="tr-2-col-4"/>
          <p:cNvSpPr txBox="1"/>
          <p:nvPr/>
        </p:nvSpPr>
        <p:spPr>
          <a:xfrm>
            <a:off x="8840455" y="2898648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influencer</a:t>
            </a:r>
          </a:p>
        </p:txBody>
      </p:sp>
      <p:sp>
        <p:nvSpPr>
          <p:cNvPr id="73" name="tr-2-col-5"/>
          <p:cNvSpPr txBox="1"/>
          <p:nvPr/>
        </p:nvSpPr>
        <p:spPr>
          <a:xfrm>
            <a:off x="10042306" y="2898648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198</a:t>
            </a:r>
          </a:p>
        </p:txBody>
      </p:sp>
      <p:sp>
        <p:nvSpPr>
          <p:cNvPr id="74" name="tr-2-col-6"/>
          <p:cNvSpPr txBox="1"/>
          <p:nvPr/>
        </p:nvSpPr>
        <p:spPr>
          <a:xfrm>
            <a:off x="10843540" y="2898648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75" name="tr-2-col-7"/>
          <p:cNvSpPr txBox="1"/>
          <p:nvPr/>
        </p:nvSpPr>
        <p:spPr>
          <a:xfrm>
            <a:off x="11544619" y="2898648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2026/05/10</a:t>
            </a:r>
          </a:p>
        </p:txBody>
      </p:sp>
      <p:sp>
        <p:nvSpPr>
          <p:cNvPr id="76" name="tr-3-bg"/>
          <p:cNvSpPr/>
          <p:nvPr/>
        </p:nvSpPr>
        <p:spPr>
          <a:xfrm>
            <a:off x="1975104" y="3191256"/>
            <a:ext cx="10015423" cy="384048"/>
          </a:xfrm>
          <a:prstGeom prst="rect">
            <a:avLst/>
          </a:prstGeom>
          <a:solidFill>
            <a:srgbClr val="EEF1F5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r-3-col-0"/>
          <p:cNvSpPr txBox="1"/>
          <p:nvPr/>
        </p:nvSpPr>
        <p:spPr>
          <a:xfrm>
            <a:off x="2029968" y="3282696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go.pvm.co.za/ptn-1</a:t>
            </a:r>
          </a:p>
        </p:txBody>
      </p:sp>
      <p:sp>
        <p:nvSpPr>
          <p:cNvPr id="78" name="tr-3-col-1"/>
          <p:cNvSpPr txBox="1"/>
          <p:nvPr/>
        </p:nvSpPr>
        <p:spPr>
          <a:xfrm>
            <a:off x="4233361" y="3282696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Fusion Meal Replacement</a:t>
            </a:r>
          </a:p>
        </p:txBody>
      </p:sp>
      <p:sp>
        <p:nvSpPr>
          <p:cNvPr id="79" name="tr-3-col-2"/>
          <p:cNvSpPr txBox="1"/>
          <p:nvPr/>
        </p:nvSpPr>
        <p:spPr>
          <a:xfrm>
            <a:off x="6837371" y="3282696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General</a:t>
            </a:r>
          </a:p>
        </p:txBody>
      </p:sp>
      <p:sp>
        <p:nvSpPr>
          <p:cNvPr id="80" name="tr-3-col-3"/>
          <p:cNvSpPr txBox="1"/>
          <p:nvPr/>
        </p:nvSpPr>
        <p:spPr>
          <a:xfrm>
            <a:off x="7838913" y="3282696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81" name="tr-3-col-4"/>
          <p:cNvSpPr txBox="1"/>
          <p:nvPr/>
        </p:nvSpPr>
        <p:spPr>
          <a:xfrm>
            <a:off x="8840455" y="3282696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packaging</a:t>
            </a:r>
          </a:p>
        </p:txBody>
      </p:sp>
      <p:sp>
        <p:nvSpPr>
          <p:cNvPr id="82" name="tr-3-col-5"/>
          <p:cNvSpPr txBox="1"/>
          <p:nvPr/>
        </p:nvSpPr>
        <p:spPr>
          <a:xfrm>
            <a:off x="10042306" y="3282696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147</a:t>
            </a:r>
          </a:p>
        </p:txBody>
      </p:sp>
      <p:sp>
        <p:nvSpPr>
          <p:cNvPr id="83" name="tr-3-col-6"/>
          <p:cNvSpPr txBox="1"/>
          <p:nvPr/>
        </p:nvSpPr>
        <p:spPr>
          <a:xfrm>
            <a:off x="10843540" y="3282696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84" name="tr-3-col-7"/>
          <p:cNvSpPr txBox="1"/>
          <p:nvPr/>
        </p:nvSpPr>
        <p:spPr>
          <a:xfrm>
            <a:off x="11544619" y="3282696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2026/05/13</a:t>
            </a:r>
          </a:p>
        </p:txBody>
      </p:sp>
      <p:sp>
        <p:nvSpPr>
          <p:cNvPr id="85" name="tr-4-bg"/>
          <p:cNvSpPr/>
          <p:nvPr/>
        </p:nvSpPr>
        <p:spPr>
          <a:xfrm>
            <a:off x="1975104" y="3575304"/>
            <a:ext cx="10015423" cy="384048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r-4-col-0"/>
          <p:cNvSpPr txBox="1"/>
          <p:nvPr/>
        </p:nvSpPr>
        <p:spPr>
          <a:xfrm>
            <a:off x="2029968" y="3666744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go.pvm.co.za/rgn-r</a:t>
            </a:r>
          </a:p>
        </p:txBody>
      </p:sp>
      <p:sp>
        <p:nvSpPr>
          <p:cNvPr id="87" name="tr-4-col-1"/>
          <p:cNvSpPr txBox="1"/>
          <p:nvPr/>
        </p:nvSpPr>
        <p:spPr>
          <a:xfrm>
            <a:off x="4233361" y="3666744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Reignite — Recovery Stack</a:t>
            </a:r>
          </a:p>
        </p:txBody>
      </p:sp>
      <p:sp>
        <p:nvSpPr>
          <p:cNvPr id="88" name="tr-4-col-2"/>
          <p:cNvSpPr txBox="1"/>
          <p:nvPr/>
        </p:nvSpPr>
        <p:spPr>
          <a:xfrm>
            <a:off x="6837371" y="3666744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Events</a:t>
            </a:r>
          </a:p>
        </p:txBody>
      </p:sp>
      <p:sp>
        <p:nvSpPr>
          <p:cNvPr id="89" name="tr-4-col-3"/>
          <p:cNvSpPr txBox="1"/>
          <p:nvPr/>
        </p:nvSpPr>
        <p:spPr>
          <a:xfrm>
            <a:off x="7838913" y="3666744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Event</a:t>
            </a:r>
          </a:p>
        </p:txBody>
      </p:sp>
      <p:sp>
        <p:nvSpPr>
          <p:cNvPr id="90" name="tr-4-col-4"/>
          <p:cNvSpPr txBox="1"/>
          <p:nvPr/>
        </p:nvSpPr>
        <p:spPr>
          <a:xfrm>
            <a:off x="8840455" y="3666744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race-2025</a:t>
            </a:r>
          </a:p>
        </p:txBody>
      </p:sp>
      <p:sp>
        <p:nvSpPr>
          <p:cNvPr id="91" name="tr-4-col-5"/>
          <p:cNvSpPr txBox="1"/>
          <p:nvPr/>
        </p:nvSpPr>
        <p:spPr>
          <a:xfrm>
            <a:off x="10042306" y="3666744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112</a:t>
            </a:r>
          </a:p>
        </p:txBody>
      </p:sp>
      <p:sp>
        <p:nvSpPr>
          <p:cNvPr id="92" name="tr-4-col-6"/>
          <p:cNvSpPr txBox="1"/>
          <p:nvPr/>
        </p:nvSpPr>
        <p:spPr>
          <a:xfrm>
            <a:off x="10843540" y="3666744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93" name="tr-4-col-7"/>
          <p:cNvSpPr txBox="1"/>
          <p:nvPr/>
        </p:nvSpPr>
        <p:spPr>
          <a:xfrm>
            <a:off x="11544619" y="3666744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2026/05/09</a:t>
            </a:r>
          </a:p>
        </p:txBody>
      </p:sp>
      <p:sp>
        <p:nvSpPr>
          <p:cNvPr id="94" name="tr-5-bg"/>
          <p:cNvSpPr/>
          <p:nvPr/>
        </p:nvSpPr>
        <p:spPr>
          <a:xfrm>
            <a:off x="1975104" y="3959352"/>
            <a:ext cx="10015423" cy="384048"/>
          </a:xfrm>
          <a:prstGeom prst="rect">
            <a:avLst/>
          </a:prstGeom>
          <a:solidFill>
            <a:srgbClr val="EEF1F5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r-5-col-0"/>
          <p:cNvSpPr txBox="1"/>
          <p:nvPr/>
        </p:nvSpPr>
        <p:spPr>
          <a:xfrm>
            <a:off x="2029968" y="4050792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go.pvm.co.za/rct-sp</a:t>
            </a:r>
          </a:p>
        </p:txBody>
      </p:sp>
      <p:sp>
        <p:nvSpPr>
          <p:cNvPr id="96" name="tr-5-col-1"/>
          <p:cNvSpPr txBox="1"/>
          <p:nvPr/>
        </p:nvSpPr>
        <p:spPr>
          <a:xfrm>
            <a:off x="4233361" y="4050792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Reactor Sample Pack</a:t>
            </a:r>
          </a:p>
        </p:txBody>
      </p:sp>
      <p:sp>
        <p:nvSpPr>
          <p:cNvPr id="97" name="tr-5-col-2"/>
          <p:cNvSpPr txBox="1"/>
          <p:nvPr/>
        </p:nvSpPr>
        <p:spPr>
          <a:xfrm>
            <a:off x="6837371" y="4050792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Products</a:t>
            </a:r>
          </a:p>
        </p:txBody>
      </p:sp>
      <p:sp>
        <p:nvSpPr>
          <p:cNvPr id="98" name="tr-5-col-3"/>
          <p:cNvSpPr txBox="1"/>
          <p:nvPr/>
        </p:nvSpPr>
        <p:spPr>
          <a:xfrm>
            <a:off x="7838913" y="4050792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99" name="tr-5-col-4"/>
          <p:cNvSpPr txBox="1"/>
          <p:nvPr/>
        </p:nvSpPr>
        <p:spPr>
          <a:xfrm>
            <a:off x="8840455" y="4050792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packaging</a:t>
            </a:r>
          </a:p>
        </p:txBody>
      </p:sp>
      <p:sp>
        <p:nvSpPr>
          <p:cNvPr id="100" name="tr-5-col-5"/>
          <p:cNvSpPr txBox="1"/>
          <p:nvPr/>
        </p:nvSpPr>
        <p:spPr>
          <a:xfrm>
            <a:off x="10042306" y="4050792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67</a:t>
            </a:r>
          </a:p>
        </p:txBody>
      </p:sp>
      <p:sp>
        <p:nvSpPr>
          <p:cNvPr id="101" name="tr-5-col-6"/>
          <p:cNvSpPr txBox="1"/>
          <p:nvPr/>
        </p:nvSpPr>
        <p:spPr>
          <a:xfrm>
            <a:off x="10843540" y="4050792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102" name="tr-5-col-7"/>
          <p:cNvSpPr txBox="1"/>
          <p:nvPr/>
        </p:nvSpPr>
        <p:spPr>
          <a:xfrm>
            <a:off x="11544619" y="4050792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2026/05/13</a:t>
            </a:r>
          </a:p>
        </p:txBody>
      </p:sp>
      <p:sp>
        <p:nvSpPr>
          <p:cNvPr id="103" name="tr-6-bg"/>
          <p:cNvSpPr/>
          <p:nvPr/>
        </p:nvSpPr>
        <p:spPr>
          <a:xfrm>
            <a:off x="1975104" y="4343400"/>
            <a:ext cx="10015423" cy="384048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-6-col-0"/>
          <p:cNvSpPr txBox="1"/>
          <p:nvPr/>
        </p:nvSpPr>
        <p:spPr>
          <a:xfrm>
            <a:off x="2029968" y="4434840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go.pvm.co.za/smr-25</a:t>
            </a:r>
          </a:p>
        </p:txBody>
      </p:sp>
      <p:sp>
        <p:nvSpPr>
          <p:cNvPr id="105" name="tr-6-col-1"/>
          <p:cNvSpPr txBox="1"/>
          <p:nvPr/>
        </p:nvSpPr>
        <p:spPr>
          <a:xfrm>
            <a:off x="4233361" y="4434840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Summer Promo 2025</a:t>
            </a:r>
          </a:p>
        </p:txBody>
      </p:sp>
      <p:sp>
        <p:nvSpPr>
          <p:cNvPr id="106" name="tr-6-col-2"/>
          <p:cNvSpPr txBox="1"/>
          <p:nvPr/>
        </p:nvSpPr>
        <p:spPr>
          <a:xfrm>
            <a:off x="6837371" y="4434840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Campaigns</a:t>
            </a:r>
          </a:p>
        </p:txBody>
      </p:sp>
      <p:sp>
        <p:nvSpPr>
          <p:cNvPr id="107" name="tr-6-col-3"/>
          <p:cNvSpPr txBox="1"/>
          <p:nvPr/>
        </p:nvSpPr>
        <p:spPr>
          <a:xfrm>
            <a:off x="7838913" y="4434840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108" name="tr-6-col-4"/>
          <p:cNvSpPr txBox="1"/>
          <p:nvPr/>
        </p:nvSpPr>
        <p:spPr>
          <a:xfrm>
            <a:off x="8840455" y="4434840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social</a:t>
            </a:r>
          </a:p>
        </p:txBody>
      </p:sp>
      <p:sp>
        <p:nvSpPr>
          <p:cNvPr id="109" name="tr-6-col-5"/>
          <p:cNvSpPr txBox="1"/>
          <p:nvPr/>
        </p:nvSpPr>
        <p:spPr>
          <a:xfrm>
            <a:off x="10042306" y="4434840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89</a:t>
            </a:r>
          </a:p>
        </p:txBody>
      </p:sp>
      <p:sp>
        <p:nvSpPr>
          <p:cNvPr id="110" name="tr-6-col-6"/>
          <p:cNvSpPr txBox="1"/>
          <p:nvPr/>
        </p:nvSpPr>
        <p:spPr>
          <a:xfrm>
            <a:off x="10843540" y="4434840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Expired</a:t>
            </a:r>
          </a:p>
        </p:txBody>
      </p:sp>
      <p:sp>
        <p:nvSpPr>
          <p:cNvPr id="111" name="tr-6-col-7"/>
          <p:cNvSpPr txBox="1"/>
          <p:nvPr/>
        </p:nvSpPr>
        <p:spPr>
          <a:xfrm>
            <a:off x="11544619" y="4434840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2026/04/30</a:t>
            </a:r>
          </a:p>
        </p:txBody>
      </p:sp>
      <p:sp>
        <p:nvSpPr>
          <p:cNvPr id="112" name="tr-7-bg"/>
          <p:cNvSpPr/>
          <p:nvPr/>
        </p:nvSpPr>
        <p:spPr>
          <a:xfrm>
            <a:off x="1975104" y="4727448"/>
            <a:ext cx="10015423" cy="384048"/>
          </a:xfrm>
          <a:prstGeom prst="rect">
            <a:avLst/>
          </a:prstGeom>
          <a:solidFill>
            <a:srgbClr val="EEF1F5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r-7-col-0"/>
          <p:cNvSpPr txBox="1"/>
          <p:nvPr/>
        </p:nvSpPr>
        <p:spPr>
          <a:xfrm>
            <a:off x="2029968" y="4818888"/>
            <a:ext cx="213024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Cascadia Code"/>
                <a:ea typeface="+mn-ea"/>
              </a:rPr>
              <a:t>go.pvm.co.za/tri-ref</a:t>
            </a:r>
          </a:p>
        </p:txBody>
      </p:sp>
      <p:sp>
        <p:nvSpPr>
          <p:cNvPr id="114" name="tr-7-col-1"/>
          <p:cNvSpPr txBox="1"/>
          <p:nvPr/>
        </p:nvSpPr>
        <p:spPr>
          <a:xfrm>
            <a:off x="4233361" y="4818888"/>
            <a:ext cx="25308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Triathlon Ref — @runwithme</a:t>
            </a:r>
          </a:p>
        </p:txBody>
      </p:sp>
      <p:sp>
        <p:nvSpPr>
          <p:cNvPr id="115" name="tr-7-col-2"/>
          <p:cNvSpPr txBox="1"/>
          <p:nvPr/>
        </p:nvSpPr>
        <p:spPr>
          <a:xfrm>
            <a:off x="6837371" y="4818888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Partners</a:t>
            </a:r>
          </a:p>
        </p:txBody>
      </p:sp>
      <p:sp>
        <p:nvSpPr>
          <p:cNvPr id="116" name="tr-7-col-3"/>
          <p:cNvSpPr txBox="1"/>
          <p:nvPr/>
        </p:nvSpPr>
        <p:spPr>
          <a:xfrm>
            <a:off x="7838913" y="4818888"/>
            <a:ext cx="92839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Referral</a:t>
            </a:r>
          </a:p>
        </p:txBody>
      </p:sp>
      <p:sp>
        <p:nvSpPr>
          <p:cNvPr id="117" name="tr-7-col-4"/>
          <p:cNvSpPr txBox="1"/>
          <p:nvPr/>
        </p:nvSpPr>
        <p:spPr>
          <a:xfrm>
            <a:off x="8840455" y="4818888"/>
            <a:ext cx="112869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influencer</a:t>
            </a:r>
          </a:p>
        </p:txBody>
      </p:sp>
      <p:sp>
        <p:nvSpPr>
          <p:cNvPr id="118" name="tr-7-col-5"/>
          <p:cNvSpPr txBox="1"/>
          <p:nvPr/>
        </p:nvSpPr>
        <p:spPr>
          <a:xfrm>
            <a:off x="10042306" y="4818888"/>
            <a:ext cx="72808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44</a:t>
            </a:r>
          </a:p>
        </p:txBody>
      </p:sp>
      <p:sp>
        <p:nvSpPr>
          <p:cNvPr id="119" name="tr-7-col-6"/>
          <p:cNvSpPr txBox="1"/>
          <p:nvPr/>
        </p:nvSpPr>
        <p:spPr>
          <a:xfrm>
            <a:off x="10843540" y="4818888"/>
            <a:ext cx="627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Paused</a:t>
            </a:r>
          </a:p>
        </p:txBody>
      </p:sp>
      <p:sp>
        <p:nvSpPr>
          <p:cNvPr id="120" name="tr-7-col-7"/>
          <p:cNvSpPr txBox="1"/>
          <p:nvPr/>
        </p:nvSpPr>
        <p:spPr>
          <a:xfrm>
            <a:off x="11544619" y="4818888"/>
            <a:ext cx="427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2026/05/01</a:t>
            </a:r>
          </a:p>
        </p:txBody>
      </p:sp>
      <p:sp>
        <p:nvSpPr>
          <p:cNvPr id="121" name="pg-count"/>
          <p:cNvSpPr txBox="1"/>
          <p:nvPr/>
        </p:nvSpPr>
        <p:spPr>
          <a:xfrm>
            <a:off x="2103120" y="5550407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Showing 8 of 42 redirects</a:t>
            </a:r>
          </a:p>
        </p:txBody>
      </p:sp>
      <p:sp>
        <p:nvSpPr>
          <p:cNvPr id="122" name="pg-btn-0"/>
          <p:cNvSpPr/>
          <p:nvPr/>
        </p:nvSpPr>
        <p:spPr>
          <a:xfrm>
            <a:off x="9741103" y="5532119"/>
            <a:ext cx="402336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g-btn-lbl-0"/>
          <p:cNvSpPr txBox="1"/>
          <p:nvPr/>
        </p:nvSpPr>
        <p:spPr>
          <a:xfrm>
            <a:off x="9741103" y="5541263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← Prev</a:t>
            </a:r>
          </a:p>
        </p:txBody>
      </p:sp>
      <p:sp>
        <p:nvSpPr>
          <p:cNvPr id="124" name="pg-btn-1"/>
          <p:cNvSpPr/>
          <p:nvPr/>
        </p:nvSpPr>
        <p:spPr>
          <a:xfrm>
            <a:off x="10180015" y="5532119"/>
            <a:ext cx="256032" cy="219456"/>
          </a:xfrm>
          <a:prstGeom prst="rect">
            <a:avLst/>
          </a:prstGeom>
          <a:solidFill>
            <a:srgbClr val="0D1F3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g-btn-lbl-1"/>
          <p:cNvSpPr txBox="1"/>
          <p:nvPr/>
        </p:nvSpPr>
        <p:spPr>
          <a:xfrm>
            <a:off x="10180015" y="5541263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1</a:t>
            </a:r>
          </a:p>
        </p:txBody>
      </p:sp>
      <p:sp>
        <p:nvSpPr>
          <p:cNvPr id="126" name="pg-btn-2"/>
          <p:cNvSpPr/>
          <p:nvPr/>
        </p:nvSpPr>
        <p:spPr>
          <a:xfrm>
            <a:off x="10618927" y="5532119"/>
            <a:ext cx="25603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g-btn-lbl-2"/>
          <p:cNvSpPr txBox="1"/>
          <p:nvPr/>
        </p:nvSpPr>
        <p:spPr>
          <a:xfrm>
            <a:off x="10618927" y="5541263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2</a:t>
            </a:r>
          </a:p>
        </p:txBody>
      </p:sp>
      <p:sp>
        <p:nvSpPr>
          <p:cNvPr id="128" name="pg-btn-3"/>
          <p:cNvSpPr/>
          <p:nvPr/>
        </p:nvSpPr>
        <p:spPr>
          <a:xfrm>
            <a:off x="11057839" y="5532119"/>
            <a:ext cx="25603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g-btn-lbl-3"/>
          <p:cNvSpPr txBox="1"/>
          <p:nvPr/>
        </p:nvSpPr>
        <p:spPr>
          <a:xfrm>
            <a:off x="11057839" y="5541263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3</a:t>
            </a:r>
          </a:p>
        </p:txBody>
      </p:sp>
      <p:sp>
        <p:nvSpPr>
          <p:cNvPr id="130" name="pg-btn-4"/>
          <p:cNvSpPr/>
          <p:nvPr/>
        </p:nvSpPr>
        <p:spPr>
          <a:xfrm>
            <a:off x="11496751" y="5532119"/>
            <a:ext cx="402336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g-btn-lbl-4"/>
          <p:cNvSpPr txBox="1"/>
          <p:nvPr/>
        </p:nvSpPr>
        <p:spPr>
          <a:xfrm>
            <a:off x="11496751" y="5541263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D1F35"/>
                </a:solidFill>
                <a:latin typeface="Segoe UI"/>
                <a:ea typeface="+mn-ea"/>
              </a:rPr>
              <a:t>Next →</a:t>
            </a:r>
          </a:p>
        </p:txBody>
      </p:sp>
      <p:sp>
        <p:nvSpPr>
          <p:cNvPr id="132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Screen 02 — All Redirects</a:t>
            </a:r>
          </a:p>
        </p:txBody>
      </p:sp>
      <p:sp>
        <p:nvSpPr>
          <p:cNvPr id="133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ipe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-sidebar-bg"/>
          <p:cNvSpPr/>
          <p:nvPr/>
        </p:nvSpPr>
        <p:spPr>
          <a:xfrm>
            <a:off x="0" y="0"/>
            <a:ext cx="1737360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debar-accent-stripe"/>
          <p:cNvSpPr/>
          <p:nvPr/>
        </p:nvSpPr>
        <p:spPr>
          <a:xfrm>
            <a:off x="0" y="0"/>
            <a:ext cx="1737360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debar-logo-bg"/>
          <p:cNvSpPr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idebar-logo"/>
          <p:cNvSpPr txBox="1"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35"/>
                </a:solidFill>
                <a:latin typeface="Segoe UI"/>
                <a:ea typeface="+mn-ea"/>
              </a:rPr>
              <a:t>P</a:t>
            </a:r>
          </a:p>
        </p:txBody>
      </p:sp>
      <p:sp>
        <p:nvSpPr>
          <p:cNvPr id="7" name="sidebar-name"/>
          <p:cNvSpPr txBox="1"/>
          <p:nvPr/>
        </p:nvSpPr>
        <p:spPr>
          <a:xfrm>
            <a:off x="512064" y="146304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8" name="sidebar-sub"/>
          <p:cNvSpPr txBox="1"/>
          <p:nvPr/>
        </p:nvSpPr>
        <p:spPr>
          <a:xfrm>
            <a:off x="512064" y="301752"/>
            <a:ext cx="11155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spc="120">
                <a:solidFill>
                  <a:srgbClr val="9BA0A6"/>
                </a:solidFill>
                <a:latin typeface="Segoe UI"/>
                <a:ea typeface="+mn-ea"/>
              </a:rPr>
              <a:t>MANAGED REDIRECTS</a:t>
            </a:r>
          </a:p>
        </p:txBody>
      </p:sp>
      <p:sp>
        <p:nvSpPr>
          <p:cNvPr id="9" name="sidebar-section-overview"/>
          <p:cNvSpPr txBox="1"/>
          <p:nvPr/>
        </p:nvSpPr>
        <p:spPr>
          <a:xfrm>
            <a:off x="164592" y="5669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OVERVIEW</a:t>
            </a:r>
          </a:p>
        </p:txBody>
      </p:sp>
      <p:sp>
        <p:nvSpPr>
          <p:cNvPr id="10" name="sidebar-item-dashboard"/>
          <p:cNvSpPr txBox="1"/>
          <p:nvPr/>
        </p:nvSpPr>
        <p:spPr>
          <a:xfrm>
            <a:off x="201168" y="749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11" name="sidebar-section-redirects"/>
          <p:cNvSpPr txBox="1"/>
          <p:nvPr/>
        </p:nvSpPr>
        <p:spPr>
          <a:xfrm>
            <a:off x="164592" y="10241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12" name="sidebar-item-all-redirects"/>
          <p:cNvSpPr txBox="1"/>
          <p:nvPr/>
        </p:nvSpPr>
        <p:spPr>
          <a:xfrm>
            <a:off x="201168" y="1207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All Redirects</a:t>
            </a:r>
          </a:p>
        </p:txBody>
      </p:sp>
      <p:sp>
        <p:nvSpPr>
          <p:cNvPr id="13" name="sidebar-active-bg-create"/>
          <p:cNvSpPr/>
          <p:nvPr/>
        </p:nvSpPr>
        <p:spPr>
          <a:xfrm>
            <a:off x="91440" y="1463040"/>
            <a:ext cx="1554480" cy="256032"/>
          </a:xfrm>
          <a:prstGeom prst="rect">
            <a:avLst/>
          </a:prstGeom>
          <a:solidFill>
            <a:srgbClr val="1A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idebar-item-new-redirect"/>
          <p:cNvSpPr txBox="1"/>
          <p:nvPr/>
        </p:nvSpPr>
        <p:spPr>
          <a:xfrm>
            <a:off x="201168" y="1481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400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15" name="sidebar-section-organisation"/>
          <p:cNvSpPr txBox="1"/>
          <p:nvPr/>
        </p:nvSpPr>
        <p:spPr>
          <a:xfrm>
            <a:off x="164592" y="17556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16" name="sidebar-item-tags-&amp;-categories"/>
          <p:cNvSpPr txBox="1"/>
          <p:nvPr/>
        </p:nvSpPr>
        <p:spPr>
          <a:xfrm>
            <a:off x="201168" y="1938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17" name="sidebar-section-system"/>
          <p:cNvSpPr txBox="1"/>
          <p:nvPr/>
        </p:nvSpPr>
        <p:spPr>
          <a:xfrm>
            <a:off x="164592" y="22128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SYSTEM</a:t>
            </a:r>
          </a:p>
        </p:txBody>
      </p:sp>
      <p:sp>
        <p:nvSpPr>
          <p:cNvPr id="18" name="sidebar-item-settings"/>
          <p:cNvSpPr txBox="1"/>
          <p:nvPr/>
        </p:nvSpPr>
        <p:spPr>
          <a:xfrm>
            <a:off x="201168" y="2395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Settings</a:t>
            </a:r>
          </a:p>
        </p:txBody>
      </p:sp>
      <p:sp>
        <p:nvSpPr>
          <p:cNvPr id="19" name="sidebar-user-bg"/>
          <p:cNvSpPr/>
          <p:nvPr/>
        </p:nvSpPr>
        <p:spPr>
          <a:xfrm>
            <a:off x="91440" y="6309360"/>
            <a:ext cx="1554480" cy="310896"/>
          </a:xfrm>
          <a:prstGeom prst="rect">
            <a:avLst/>
          </a:prstGeom>
          <a:solidFill>
            <a:srgbClr val="1A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bar-av-bg"/>
          <p:cNvSpPr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bar-av"/>
          <p:cNvSpPr txBox="1"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+mn-ea"/>
              </a:rPr>
              <a:t>M</a:t>
            </a:r>
          </a:p>
        </p:txBody>
      </p:sp>
      <p:sp>
        <p:nvSpPr>
          <p:cNvPr id="22" name="sidebar-user-name"/>
          <p:cNvSpPr txBox="1"/>
          <p:nvPr/>
        </p:nvSpPr>
        <p:spPr>
          <a:xfrm>
            <a:off x="457200" y="63550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0D6"/>
                </a:solidFill>
                <a:latin typeface="Segoe UI"/>
                <a:ea typeface="+mn-ea"/>
              </a:rPr>
              <a:t>Marius</a:t>
            </a:r>
          </a:p>
        </p:txBody>
      </p:sp>
      <p:sp>
        <p:nvSpPr>
          <p:cNvPr id="23" name="sidebar-user-role"/>
          <p:cNvSpPr txBox="1"/>
          <p:nvPr/>
        </p:nvSpPr>
        <p:spPr>
          <a:xfrm>
            <a:off x="457200" y="649224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28090"/>
                </a:solidFill>
                <a:latin typeface="Segoe UI"/>
                <a:ea typeface="+mn-ea"/>
              </a:rPr>
              <a:t>Administrator</a:t>
            </a:r>
          </a:p>
        </p:txBody>
      </p:sp>
      <p:sp>
        <p:nvSpPr>
          <p:cNvPr id="24" name="topbar-bg"/>
          <p:cNvSpPr/>
          <p:nvPr/>
        </p:nvSpPr>
        <p:spPr>
          <a:xfrm>
            <a:off x="1737360" y="0"/>
            <a:ext cx="104543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bar-bc"/>
          <p:cNvSpPr txBox="1"/>
          <p:nvPr/>
        </p:nvSpPr>
        <p:spPr>
          <a:xfrm>
            <a:off x="1938528" y="109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PVM URL Admin  ›  Redirects  ›  New Redirect</a:t>
            </a:r>
          </a:p>
        </p:txBody>
      </p:sp>
      <p:sp>
        <p:nvSpPr>
          <p:cNvPr id="26" name="topbar-btn-bg"/>
          <p:cNvSpPr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bar-btn"/>
          <p:cNvSpPr txBox="1"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+ New redirect</a:t>
            </a:r>
          </a:p>
        </p:txBody>
      </p:sp>
      <p:sp>
        <p:nvSpPr>
          <p:cNvPr id="28" name="pg-eyebrow"/>
          <p:cNvSpPr txBox="1"/>
          <p:nvPr/>
        </p:nvSpPr>
        <p:spPr>
          <a:xfrm>
            <a:off x="1993392" y="612648"/>
            <a:ext cx="994227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120">
                <a:solidFill>
                  <a:srgbClr val="6B728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29" name="pg-title"/>
          <p:cNvSpPr txBox="1"/>
          <p:nvPr/>
        </p:nvSpPr>
        <p:spPr>
          <a:xfrm>
            <a:off x="1993392" y="777240"/>
            <a:ext cx="9942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35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30" name="pg-desc"/>
          <p:cNvSpPr txBox="1"/>
          <p:nvPr/>
        </p:nvSpPr>
        <p:spPr>
          <a:xfrm>
            <a:off x="1993392" y="1088136"/>
            <a:ext cx="99422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  <a:ea typeface="+mn-ea"/>
              </a:rPr>
              <a:t>Create a stable short URL. The code is permanent — the destination can always be updated.</a:t>
            </a:r>
          </a:p>
        </p:txBody>
      </p:sp>
      <p:sp>
        <p:nvSpPr>
          <p:cNvPr id="31" name="card-basic"/>
          <p:cNvSpPr/>
          <p:nvPr/>
        </p:nvSpPr>
        <p:spPr>
          <a:xfrm>
            <a:off x="1975104" y="1417320"/>
            <a:ext cx="6810487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-basic-hd-bg"/>
          <p:cNvSpPr/>
          <p:nvPr/>
        </p:nvSpPr>
        <p:spPr>
          <a:xfrm>
            <a:off x="1975104" y="1417320"/>
            <a:ext cx="681048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rd-basic-hd-title"/>
          <p:cNvSpPr txBox="1"/>
          <p:nvPr/>
        </p:nvSpPr>
        <p:spPr>
          <a:xfrm>
            <a:off x="2103120" y="1472184"/>
            <a:ext cx="65544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Basic information</a:t>
            </a:r>
          </a:p>
        </p:txBody>
      </p:sp>
      <p:sp>
        <p:nvSpPr>
          <p:cNvPr id="34" name="field-lbl-Short code"/>
          <p:cNvSpPr txBox="1"/>
          <p:nvPr/>
        </p:nvSpPr>
        <p:spPr>
          <a:xfrm>
            <a:off x="2103120" y="1746504"/>
            <a:ext cx="65544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Short code — permanent once created</a:t>
            </a:r>
          </a:p>
        </p:txBody>
      </p:sp>
      <p:sp>
        <p:nvSpPr>
          <p:cNvPr id="35" name="field-input-Short code"/>
          <p:cNvSpPr/>
          <p:nvPr/>
        </p:nvSpPr>
        <p:spPr>
          <a:xfrm>
            <a:off x="2103120" y="1911096"/>
            <a:ext cx="6554455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ield-ph-Short code"/>
          <p:cNvSpPr txBox="1"/>
          <p:nvPr/>
        </p:nvSpPr>
        <p:spPr>
          <a:xfrm>
            <a:off x="2176272" y="1956816"/>
            <a:ext cx="64081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scadia Code"/>
                <a:ea typeface="+mn-ea"/>
              </a:rPr>
              <a:t>go.pvm.co.za/ [e.g. oct-22]</a:t>
            </a:r>
          </a:p>
        </p:txBody>
      </p:sp>
      <p:sp>
        <p:nvSpPr>
          <p:cNvPr id="37" name="field-lbl-Title"/>
          <p:cNvSpPr txBox="1"/>
          <p:nvPr/>
        </p:nvSpPr>
        <p:spPr>
          <a:xfrm>
            <a:off x="2103120" y="2258568"/>
            <a:ext cx="65544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Title</a:t>
            </a:r>
          </a:p>
        </p:txBody>
      </p:sp>
      <p:sp>
        <p:nvSpPr>
          <p:cNvPr id="38" name="field-input-Title"/>
          <p:cNvSpPr/>
          <p:nvPr/>
        </p:nvSpPr>
        <p:spPr>
          <a:xfrm>
            <a:off x="2103120" y="2423160"/>
            <a:ext cx="6554455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ield-ph-Title"/>
          <p:cNvSpPr txBox="1"/>
          <p:nvPr/>
        </p:nvSpPr>
        <p:spPr>
          <a:xfrm>
            <a:off x="2176272" y="2468880"/>
            <a:ext cx="64081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e.g. Fusion Meal Replacement — Packaging Q1 2025</a:t>
            </a:r>
          </a:p>
        </p:txBody>
      </p:sp>
      <p:sp>
        <p:nvSpPr>
          <p:cNvPr id="40" name="field-lbl-Destinatio"/>
          <p:cNvSpPr txBox="1"/>
          <p:nvPr/>
        </p:nvSpPr>
        <p:spPr>
          <a:xfrm>
            <a:off x="2103120" y="2752344"/>
            <a:ext cx="65544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Destination URL</a:t>
            </a:r>
          </a:p>
        </p:txBody>
      </p:sp>
      <p:sp>
        <p:nvSpPr>
          <p:cNvPr id="41" name="field-input-Destinatio"/>
          <p:cNvSpPr/>
          <p:nvPr/>
        </p:nvSpPr>
        <p:spPr>
          <a:xfrm>
            <a:off x="2103120" y="2916936"/>
            <a:ext cx="6554455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ield-ph-Destinatio"/>
          <p:cNvSpPr txBox="1"/>
          <p:nvPr/>
        </p:nvSpPr>
        <p:spPr>
          <a:xfrm>
            <a:off x="2176272" y="2962656"/>
            <a:ext cx="64081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https://pvm.co.za/product/…</a:t>
            </a:r>
          </a:p>
        </p:txBody>
      </p:sp>
      <p:sp>
        <p:nvSpPr>
          <p:cNvPr id="43" name="card-class"/>
          <p:cNvSpPr/>
          <p:nvPr/>
        </p:nvSpPr>
        <p:spPr>
          <a:xfrm>
            <a:off x="1975104" y="3118104"/>
            <a:ext cx="6810487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ard-class-hd-bg"/>
          <p:cNvSpPr/>
          <p:nvPr/>
        </p:nvSpPr>
        <p:spPr>
          <a:xfrm>
            <a:off x="1975104" y="3118104"/>
            <a:ext cx="6810487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ard-class-hd-title"/>
          <p:cNvSpPr txBox="1"/>
          <p:nvPr/>
        </p:nvSpPr>
        <p:spPr>
          <a:xfrm>
            <a:off x="2103120" y="3172968"/>
            <a:ext cx="65544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Classification</a:t>
            </a:r>
          </a:p>
        </p:txBody>
      </p:sp>
      <p:sp>
        <p:nvSpPr>
          <p:cNvPr id="46" name="card-class-hd-sub"/>
          <p:cNvSpPr txBox="1"/>
          <p:nvPr/>
        </p:nvSpPr>
        <p:spPr>
          <a:xfrm>
            <a:off x="2103120" y="3319272"/>
            <a:ext cx="6554455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Category, purpose, and tags</a:t>
            </a:r>
          </a:p>
        </p:txBody>
      </p:sp>
      <p:sp>
        <p:nvSpPr>
          <p:cNvPr id="47" name="class-lbl-0"/>
          <p:cNvSpPr txBox="1"/>
          <p:nvPr/>
        </p:nvSpPr>
        <p:spPr>
          <a:xfrm>
            <a:off x="2103120" y="3520440"/>
            <a:ext cx="32132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Category</a:t>
            </a:r>
          </a:p>
        </p:txBody>
      </p:sp>
      <p:sp>
        <p:nvSpPr>
          <p:cNvPr id="48" name="class-sel-0"/>
          <p:cNvSpPr/>
          <p:nvPr/>
        </p:nvSpPr>
        <p:spPr>
          <a:xfrm>
            <a:off x="2103120" y="3685032"/>
            <a:ext cx="32132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lass-sel-ph-0"/>
          <p:cNvSpPr txBox="1"/>
          <p:nvPr/>
        </p:nvSpPr>
        <p:spPr>
          <a:xfrm>
            <a:off x="2176272" y="3730752"/>
            <a:ext cx="306691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  <a:ea typeface="+mn-ea"/>
              </a:rPr>
              <a:t>Select…</a:t>
            </a:r>
          </a:p>
        </p:txBody>
      </p:sp>
      <p:sp>
        <p:nvSpPr>
          <p:cNvPr id="50" name="class-lbl-1"/>
          <p:cNvSpPr txBox="1"/>
          <p:nvPr/>
        </p:nvSpPr>
        <p:spPr>
          <a:xfrm>
            <a:off x="5444355" y="3520440"/>
            <a:ext cx="32132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Purpose</a:t>
            </a:r>
          </a:p>
        </p:txBody>
      </p:sp>
      <p:sp>
        <p:nvSpPr>
          <p:cNvPr id="51" name="class-sel-1"/>
          <p:cNvSpPr/>
          <p:nvPr/>
        </p:nvSpPr>
        <p:spPr>
          <a:xfrm>
            <a:off x="5444355" y="3685032"/>
            <a:ext cx="32132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lass-sel-ph-1"/>
          <p:cNvSpPr txBox="1"/>
          <p:nvPr/>
        </p:nvSpPr>
        <p:spPr>
          <a:xfrm>
            <a:off x="5517507" y="3730752"/>
            <a:ext cx="306691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  <a:ea typeface="+mn-ea"/>
              </a:rPr>
              <a:t>Select…</a:t>
            </a:r>
          </a:p>
        </p:txBody>
      </p:sp>
      <p:sp>
        <p:nvSpPr>
          <p:cNvPr id="53" name="tags-lbl"/>
          <p:cNvSpPr txBox="1"/>
          <p:nvPr/>
        </p:nvSpPr>
        <p:spPr>
          <a:xfrm>
            <a:off x="2103120" y="4014216"/>
            <a:ext cx="655445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Tags — select all that apply</a:t>
            </a:r>
          </a:p>
        </p:txBody>
      </p:sp>
      <p:sp>
        <p:nvSpPr>
          <p:cNvPr id="54" name="tag-opt-0"/>
          <p:cNvSpPr/>
          <p:nvPr/>
        </p:nvSpPr>
        <p:spPr>
          <a:xfrm>
            <a:off x="2103120" y="4178808"/>
            <a:ext cx="749808" cy="201168"/>
          </a:xfrm>
          <a:prstGeom prst="rect">
            <a:avLst/>
          </a:prstGeom>
          <a:solidFill>
            <a:srgbClr val="0D1F3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ag-opt-lbl-0"/>
          <p:cNvSpPr txBox="1"/>
          <p:nvPr/>
        </p:nvSpPr>
        <p:spPr>
          <a:xfrm>
            <a:off x="2103120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  <a:ea typeface="+mn-ea"/>
              </a:rPr>
              <a:t>packaging</a:t>
            </a:r>
          </a:p>
        </p:txBody>
      </p:sp>
      <p:sp>
        <p:nvSpPr>
          <p:cNvPr id="56" name="tag-opt-1"/>
          <p:cNvSpPr/>
          <p:nvPr/>
        </p:nvSpPr>
        <p:spPr>
          <a:xfrm>
            <a:off x="2916936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ag-opt-lbl-1"/>
          <p:cNvSpPr txBox="1"/>
          <p:nvPr/>
        </p:nvSpPr>
        <p:spPr>
          <a:xfrm>
            <a:off x="2916936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product-page</a:t>
            </a:r>
          </a:p>
        </p:txBody>
      </p:sp>
      <p:sp>
        <p:nvSpPr>
          <p:cNvPr id="58" name="tag-opt-2"/>
          <p:cNvSpPr/>
          <p:nvPr/>
        </p:nvSpPr>
        <p:spPr>
          <a:xfrm>
            <a:off x="3730752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ag-opt-lbl-2"/>
          <p:cNvSpPr txBox="1"/>
          <p:nvPr/>
        </p:nvSpPr>
        <p:spPr>
          <a:xfrm>
            <a:off x="3730752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social</a:t>
            </a:r>
          </a:p>
        </p:txBody>
      </p:sp>
      <p:sp>
        <p:nvSpPr>
          <p:cNvPr id="60" name="tag-opt-3"/>
          <p:cNvSpPr/>
          <p:nvPr/>
        </p:nvSpPr>
        <p:spPr>
          <a:xfrm>
            <a:off x="4544568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ag-opt-lbl-3"/>
          <p:cNvSpPr txBox="1"/>
          <p:nvPr/>
        </p:nvSpPr>
        <p:spPr>
          <a:xfrm>
            <a:off x="4544568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influencer</a:t>
            </a:r>
          </a:p>
        </p:txBody>
      </p:sp>
      <p:sp>
        <p:nvSpPr>
          <p:cNvPr id="62" name="tag-opt-4"/>
          <p:cNvSpPr/>
          <p:nvPr/>
        </p:nvSpPr>
        <p:spPr>
          <a:xfrm>
            <a:off x="5358384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ag-opt-lbl-4"/>
          <p:cNvSpPr txBox="1"/>
          <p:nvPr/>
        </p:nvSpPr>
        <p:spPr>
          <a:xfrm>
            <a:off x="5358384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race-2025</a:t>
            </a:r>
          </a:p>
        </p:txBody>
      </p:sp>
      <p:sp>
        <p:nvSpPr>
          <p:cNvPr id="64" name="tag-opt-5"/>
          <p:cNvSpPr/>
          <p:nvPr/>
        </p:nvSpPr>
        <p:spPr>
          <a:xfrm>
            <a:off x="6172200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ag-opt-lbl-5"/>
          <p:cNvSpPr txBox="1"/>
          <p:nvPr/>
        </p:nvSpPr>
        <p:spPr>
          <a:xfrm>
            <a:off x="6172200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print-run-q1</a:t>
            </a:r>
          </a:p>
        </p:txBody>
      </p:sp>
      <p:sp>
        <p:nvSpPr>
          <p:cNvPr id="66" name="tag-opt-6"/>
          <p:cNvSpPr/>
          <p:nvPr/>
        </p:nvSpPr>
        <p:spPr>
          <a:xfrm>
            <a:off x="6986016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ag-opt-lbl-6"/>
          <p:cNvSpPr txBox="1"/>
          <p:nvPr/>
        </p:nvSpPr>
        <p:spPr>
          <a:xfrm>
            <a:off x="6986016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email</a:t>
            </a:r>
          </a:p>
        </p:txBody>
      </p:sp>
      <p:sp>
        <p:nvSpPr>
          <p:cNvPr id="68" name="tag-opt-7"/>
          <p:cNvSpPr/>
          <p:nvPr/>
        </p:nvSpPr>
        <p:spPr>
          <a:xfrm>
            <a:off x="7799832" y="4178808"/>
            <a:ext cx="749808" cy="20116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ag-opt-lbl-7"/>
          <p:cNvSpPr txBox="1"/>
          <p:nvPr/>
        </p:nvSpPr>
        <p:spPr>
          <a:xfrm>
            <a:off x="7799832" y="417880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instagram</a:t>
            </a:r>
          </a:p>
        </p:txBody>
      </p:sp>
      <p:sp>
        <p:nvSpPr>
          <p:cNvPr id="70" name="status-card"/>
          <p:cNvSpPr/>
          <p:nvPr/>
        </p:nvSpPr>
        <p:spPr>
          <a:xfrm>
            <a:off x="8985900" y="1417320"/>
            <a:ext cx="300462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tatus-hd-bg"/>
          <p:cNvSpPr/>
          <p:nvPr/>
        </p:nvSpPr>
        <p:spPr>
          <a:xfrm>
            <a:off x="8985900" y="1417320"/>
            <a:ext cx="300462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tus-hd-title"/>
          <p:cNvSpPr txBox="1"/>
          <p:nvPr/>
        </p:nvSpPr>
        <p:spPr>
          <a:xfrm>
            <a:off x="9113916" y="1472184"/>
            <a:ext cx="274859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Status</a:t>
            </a:r>
          </a:p>
        </p:txBody>
      </p:sp>
      <p:sp>
        <p:nvSpPr>
          <p:cNvPr id="73" name="toggle-track"/>
          <p:cNvSpPr/>
          <p:nvPr/>
        </p:nvSpPr>
        <p:spPr>
          <a:xfrm>
            <a:off x="9113916" y="1819656"/>
            <a:ext cx="310896" cy="16459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oggle-thumb"/>
          <p:cNvSpPr/>
          <p:nvPr/>
        </p:nvSpPr>
        <p:spPr>
          <a:xfrm>
            <a:off x="9260220" y="1837944"/>
            <a:ext cx="10972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tatus-lbl"/>
          <p:cNvSpPr txBox="1"/>
          <p:nvPr/>
        </p:nvSpPr>
        <p:spPr>
          <a:xfrm>
            <a:off x="9497964" y="1801368"/>
            <a:ext cx="23645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76" name="status-sub"/>
          <p:cNvSpPr txBox="1"/>
          <p:nvPr/>
        </p:nvSpPr>
        <p:spPr>
          <a:xfrm>
            <a:off x="9497964" y="1947672"/>
            <a:ext cx="236454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Redirect is live and resolving</a:t>
            </a:r>
          </a:p>
        </p:txBody>
      </p:sp>
      <p:sp>
        <p:nvSpPr>
          <p:cNvPr id="77" name="preview-card"/>
          <p:cNvSpPr/>
          <p:nvPr/>
        </p:nvSpPr>
        <p:spPr>
          <a:xfrm>
            <a:off x="8985900" y="2185416"/>
            <a:ext cx="300462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review-hd-bg"/>
          <p:cNvSpPr/>
          <p:nvPr/>
        </p:nvSpPr>
        <p:spPr>
          <a:xfrm>
            <a:off x="8985900" y="2185416"/>
            <a:ext cx="300462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review-hd-title"/>
          <p:cNvSpPr txBox="1"/>
          <p:nvPr/>
        </p:nvSpPr>
        <p:spPr>
          <a:xfrm>
            <a:off x="9113916" y="2240280"/>
            <a:ext cx="274859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Short URL preview</a:t>
            </a:r>
          </a:p>
        </p:txBody>
      </p:sp>
      <p:sp>
        <p:nvSpPr>
          <p:cNvPr id="80" name="preview-box"/>
          <p:cNvSpPr/>
          <p:nvPr/>
        </p:nvSpPr>
        <p:spPr>
          <a:xfrm>
            <a:off x="9113916" y="2587752"/>
            <a:ext cx="2748594" cy="237744"/>
          </a:xfrm>
          <a:prstGeom prst="rect">
            <a:avLst/>
          </a:prstGeom>
          <a:solidFill>
            <a:srgbClr val="EEF1F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review-txt"/>
          <p:cNvSpPr txBox="1"/>
          <p:nvPr/>
        </p:nvSpPr>
        <p:spPr>
          <a:xfrm>
            <a:off x="9187068" y="2633472"/>
            <a:ext cx="260229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  <a:latin typeface="Cascadia Code"/>
                <a:ea typeface="+mn-ea"/>
              </a:rPr>
              <a:t>go.pvm.co.za/  —</a:t>
            </a:r>
          </a:p>
        </p:txBody>
      </p:sp>
      <p:sp>
        <p:nvSpPr>
          <p:cNvPr id="82" name="qr-card"/>
          <p:cNvSpPr/>
          <p:nvPr/>
        </p:nvSpPr>
        <p:spPr>
          <a:xfrm>
            <a:off x="8985900" y="3063240"/>
            <a:ext cx="300462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qr-hd-bg"/>
          <p:cNvSpPr/>
          <p:nvPr/>
        </p:nvSpPr>
        <p:spPr>
          <a:xfrm>
            <a:off x="8985900" y="3063240"/>
            <a:ext cx="300462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qr-hd-title"/>
          <p:cNvSpPr txBox="1"/>
          <p:nvPr/>
        </p:nvSpPr>
        <p:spPr>
          <a:xfrm>
            <a:off x="9113916" y="3118104"/>
            <a:ext cx="274859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QR Code</a:t>
            </a:r>
          </a:p>
        </p:txBody>
      </p:sp>
      <p:sp>
        <p:nvSpPr>
          <p:cNvPr id="85" name="qr-stub"/>
          <p:cNvSpPr/>
          <p:nvPr/>
        </p:nvSpPr>
        <p:spPr>
          <a:xfrm>
            <a:off x="9902997" y="3465576"/>
            <a:ext cx="1170432" cy="731520"/>
          </a:xfrm>
          <a:prstGeom prst="rect">
            <a:avLst/>
          </a:prstGeom>
          <a:solidFill>
            <a:srgbClr val="EEF1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qr-note"/>
          <p:cNvSpPr txBox="1"/>
          <p:nvPr/>
        </p:nvSpPr>
        <p:spPr>
          <a:xfrm>
            <a:off x="9113916" y="3593592"/>
            <a:ext cx="274859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QR generation arrives in the next release.</a:t>
            </a:r>
          </a:p>
        </p:txBody>
      </p:sp>
      <p:sp>
        <p:nvSpPr>
          <p:cNvPr id="87" name="coming-soon-bg"/>
          <p:cNvSpPr/>
          <p:nvPr/>
        </p:nvSpPr>
        <p:spPr>
          <a:xfrm>
            <a:off x="11167567" y="3136392"/>
            <a:ext cx="749808" cy="155448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oming-soon-lbl"/>
          <p:cNvSpPr txBox="1"/>
          <p:nvPr/>
        </p:nvSpPr>
        <p:spPr>
          <a:xfrm>
            <a:off x="11167567" y="3136392"/>
            <a:ext cx="74980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Coming soon</a:t>
            </a:r>
          </a:p>
        </p:txBody>
      </p:sp>
      <p:sp>
        <p:nvSpPr>
          <p:cNvPr id="89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Screen 03 — Create / Edit Redirect</a:t>
            </a:r>
          </a:p>
        </p:txBody>
      </p:sp>
      <p:sp>
        <p:nvSpPr>
          <p:cNvPr id="90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ipe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-sidebar-bg"/>
          <p:cNvSpPr/>
          <p:nvPr/>
        </p:nvSpPr>
        <p:spPr>
          <a:xfrm>
            <a:off x="0" y="0"/>
            <a:ext cx="1737360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debar-accent-stripe"/>
          <p:cNvSpPr/>
          <p:nvPr/>
        </p:nvSpPr>
        <p:spPr>
          <a:xfrm>
            <a:off x="0" y="0"/>
            <a:ext cx="1737360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debar-logo-bg"/>
          <p:cNvSpPr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idebar-logo"/>
          <p:cNvSpPr txBox="1"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35"/>
                </a:solidFill>
                <a:latin typeface="Segoe UI"/>
                <a:ea typeface="+mn-ea"/>
              </a:rPr>
              <a:t>P</a:t>
            </a:r>
          </a:p>
        </p:txBody>
      </p:sp>
      <p:sp>
        <p:nvSpPr>
          <p:cNvPr id="7" name="sidebar-name"/>
          <p:cNvSpPr txBox="1"/>
          <p:nvPr/>
        </p:nvSpPr>
        <p:spPr>
          <a:xfrm>
            <a:off x="512064" y="146304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8" name="sidebar-sub"/>
          <p:cNvSpPr txBox="1"/>
          <p:nvPr/>
        </p:nvSpPr>
        <p:spPr>
          <a:xfrm>
            <a:off x="512064" y="301752"/>
            <a:ext cx="11155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spc="120">
                <a:solidFill>
                  <a:srgbClr val="9BA0A6"/>
                </a:solidFill>
                <a:latin typeface="Segoe UI"/>
                <a:ea typeface="+mn-ea"/>
              </a:rPr>
              <a:t>MANAGED REDIRECTS</a:t>
            </a:r>
          </a:p>
        </p:txBody>
      </p:sp>
      <p:sp>
        <p:nvSpPr>
          <p:cNvPr id="9" name="sidebar-section-overview"/>
          <p:cNvSpPr txBox="1"/>
          <p:nvPr/>
        </p:nvSpPr>
        <p:spPr>
          <a:xfrm>
            <a:off x="164592" y="5669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OVERVIEW</a:t>
            </a:r>
          </a:p>
        </p:txBody>
      </p:sp>
      <p:sp>
        <p:nvSpPr>
          <p:cNvPr id="10" name="sidebar-item-dashboard"/>
          <p:cNvSpPr txBox="1"/>
          <p:nvPr/>
        </p:nvSpPr>
        <p:spPr>
          <a:xfrm>
            <a:off x="201168" y="749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11" name="sidebar-section-redirects"/>
          <p:cNvSpPr txBox="1"/>
          <p:nvPr/>
        </p:nvSpPr>
        <p:spPr>
          <a:xfrm>
            <a:off x="164592" y="10241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12" name="sidebar-active-bg-redirects"/>
          <p:cNvSpPr/>
          <p:nvPr/>
        </p:nvSpPr>
        <p:spPr>
          <a:xfrm>
            <a:off x="91440" y="1188720"/>
            <a:ext cx="1554480" cy="256032"/>
          </a:xfrm>
          <a:prstGeom prst="rect">
            <a:avLst/>
          </a:prstGeom>
          <a:solidFill>
            <a:srgbClr val="1A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idebar-item-all-redirects"/>
          <p:cNvSpPr txBox="1"/>
          <p:nvPr/>
        </p:nvSpPr>
        <p:spPr>
          <a:xfrm>
            <a:off x="201168" y="1207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400"/>
                </a:solidFill>
                <a:latin typeface="Segoe UI"/>
                <a:ea typeface="+mn-ea"/>
              </a:rPr>
              <a:t>All Redirects</a:t>
            </a:r>
          </a:p>
        </p:txBody>
      </p:sp>
      <p:sp>
        <p:nvSpPr>
          <p:cNvPr id="14" name="sidebar-item-new-redirect"/>
          <p:cNvSpPr txBox="1"/>
          <p:nvPr/>
        </p:nvSpPr>
        <p:spPr>
          <a:xfrm>
            <a:off x="201168" y="1481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15" name="sidebar-section-organisation"/>
          <p:cNvSpPr txBox="1"/>
          <p:nvPr/>
        </p:nvSpPr>
        <p:spPr>
          <a:xfrm>
            <a:off x="164592" y="17556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16" name="sidebar-item-tags-&amp;-categories"/>
          <p:cNvSpPr txBox="1"/>
          <p:nvPr/>
        </p:nvSpPr>
        <p:spPr>
          <a:xfrm>
            <a:off x="201168" y="1938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17" name="sidebar-section-system"/>
          <p:cNvSpPr txBox="1"/>
          <p:nvPr/>
        </p:nvSpPr>
        <p:spPr>
          <a:xfrm>
            <a:off x="164592" y="22128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SYSTEM</a:t>
            </a:r>
          </a:p>
        </p:txBody>
      </p:sp>
      <p:sp>
        <p:nvSpPr>
          <p:cNvPr id="18" name="sidebar-item-settings"/>
          <p:cNvSpPr txBox="1"/>
          <p:nvPr/>
        </p:nvSpPr>
        <p:spPr>
          <a:xfrm>
            <a:off x="201168" y="2395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Settings</a:t>
            </a:r>
          </a:p>
        </p:txBody>
      </p:sp>
      <p:sp>
        <p:nvSpPr>
          <p:cNvPr id="19" name="sidebar-user-bg"/>
          <p:cNvSpPr/>
          <p:nvPr/>
        </p:nvSpPr>
        <p:spPr>
          <a:xfrm>
            <a:off x="91440" y="6309360"/>
            <a:ext cx="1554480" cy="310896"/>
          </a:xfrm>
          <a:prstGeom prst="rect">
            <a:avLst/>
          </a:prstGeom>
          <a:solidFill>
            <a:srgbClr val="1A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bar-av-bg"/>
          <p:cNvSpPr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bar-av"/>
          <p:cNvSpPr txBox="1"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+mn-ea"/>
              </a:rPr>
              <a:t>M</a:t>
            </a:r>
          </a:p>
        </p:txBody>
      </p:sp>
      <p:sp>
        <p:nvSpPr>
          <p:cNvPr id="22" name="sidebar-user-name"/>
          <p:cNvSpPr txBox="1"/>
          <p:nvPr/>
        </p:nvSpPr>
        <p:spPr>
          <a:xfrm>
            <a:off x="457200" y="63550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0D6"/>
                </a:solidFill>
                <a:latin typeface="Segoe UI"/>
                <a:ea typeface="+mn-ea"/>
              </a:rPr>
              <a:t>Marius</a:t>
            </a:r>
          </a:p>
        </p:txBody>
      </p:sp>
      <p:sp>
        <p:nvSpPr>
          <p:cNvPr id="23" name="sidebar-user-role"/>
          <p:cNvSpPr txBox="1"/>
          <p:nvPr/>
        </p:nvSpPr>
        <p:spPr>
          <a:xfrm>
            <a:off x="457200" y="649224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28090"/>
                </a:solidFill>
                <a:latin typeface="Segoe UI"/>
                <a:ea typeface="+mn-ea"/>
              </a:rPr>
              <a:t>Administrator</a:t>
            </a:r>
          </a:p>
        </p:txBody>
      </p:sp>
      <p:sp>
        <p:nvSpPr>
          <p:cNvPr id="24" name="topbar-bg"/>
          <p:cNvSpPr/>
          <p:nvPr/>
        </p:nvSpPr>
        <p:spPr>
          <a:xfrm>
            <a:off x="1737360" y="0"/>
            <a:ext cx="104543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bar-bc"/>
          <p:cNvSpPr txBox="1"/>
          <p:nvPr/>
        </p:nvSpPr>
        <p:spPr>
          <a:xfrm>
            <a:off x="1938528" y="109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PVM URL Admin  ›  Redirects  ›  PVM Energy Bar</a:t>
            </a:r>
          </a:p>
        </p:txBody>
      </p:sp>
      <p:sp>
        <p:nvSpPr>
          <p:cNvPr id="26" name="topbar-btn-bg"/>
          <p:cNvSpPr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bar-btn"/>
          <p:cNvSpPr txBox="1"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+ New redirect</a:t>
            </a:r>
          </a:p>
        </p:txBody>
      </p:sp>
      <p:sp>
        <p:nvSpPr>
          <p:cNvPr id="28" name="back-link"/>
          <p:cNvSpPr txBox="1"/>
          <p:nvPr/>
        </p:nvSpPr>
        <p:spPr>
          <a:xfrm>
            <a:off x="1975104" y="5303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Segoe UI"/>
                <a:ea typeface="+mn-ea"/>
              </a:rPr>
              <a:t>← Back to redirects</a:t>
            </a:r>
          </a:p>
        </p:txBody>
      </p:sp>
      <p:sp>
        <p:nvSpPr>
          <p:cNvPr id="29" name="detail-badge-campaign"/>
          <p:cNvSpPr/>
          <p:nvPr/>
        </p:nvSpPr>
        <p:spPr>
          <a:xfrm>
            <a:off x="1975104" y="786384"/>
            <a:ext cx="658368" cy="16459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tail-badge-campaign-text"/>
          <p:cNvSpPr txBox="1"/>
          <p:nvPr/>
        </p:nvSpPr>
        <p:spPr>
          <a:xfrm>
            <a:off x="1975104" y="7955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31" name="detail-badge-active"/>
          <p:cNvSpPr/>
          <p:nvPr/>
        </p:nvSpPr>
        <p:spPr>
          <a:xfrm>
            <a:off x="2706624" y="786384"/>
            <a:ext cx="658368" cy="1645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tail-badge-active-text"/>
          <p:cNvSpPr txBox="1"/>
          <p:nvPr/>
        </p:nvSpPr>
        <p:spPr>
          <a:xfrm>
            <a:off x="2706624" y="795528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Segoe UI"/>
                <a:ea typeface="+mn-ea"/>
              </a:rPr>
              <a:t>Active</a:t>
            </a:r>
          </a:p>
        </p:txBody>
      </p:sp>
      <p:sp>
        <p:nvSpPr>
          <p:cNvPr id="33" name="detail-title"/>
          <p:cNvSpPr txBox="1"/>
          <p:nvPr/>
        </p:nvSpPr>
        <p:spPr>
          <a:xfrm>
            <a:off x="1975104" y="987552"/>
            <a:ext cx="75115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PVM Energy Bar</a:t>
            </a:r>
          </a:p>
        </p:txBody>
      </p:sp>
      <p:sp>
        <p:nvSpPr>
          <p:cNvPr id="34" name="detail-url-box"/>
          <p:cNvSpPr/>
          <p:nvPr/>
        </p:nvSpPr>
        <p:spPr>
          <a:xfrm>
            <a:off x="1975104" y="1335024"/>
            <a:ext cx="2377440" cy="237744"/>
          </a:xfrm>
          <a:prstGeom prst="rect">
            <a:avLst/>
          </a:prstGeom>
          <a:solidFill>
            <a:srgbClr val="EEF1F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tail-url"/>
          <p:cNvSpPr txBox="1"/>
          <p:nvPr/>
        </p:nvSpPr>
        <p:spPr>
          <a:xfrm>
            <a:off x="2066544" y="1380744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84C7"/>
                </a:solidFill>
                <a:latin typeface="Cascadia Code"/>
                <a:ea typeface="+mn-ea"/>
              </a:rPr>
              <a:t>go.pvm.co.za/4frr2zc5</a:t>
            </a:r>
          </a:p>
        </p:txBody>
      </p:sp>
      <p:sp>
        <p:nvSpPr>
          <p:cNvPr id="36" name="detail-dest"/>
          <p:cNvSpPr txBox="1"/>
          <p:nvPr/>
        </p:nvSpPr>
        <p:spPr>
          <a:xfrm>
            <a:off x="1975104" y="1591056"/>
            <a:ext cx="75115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scadia Code"/>
                <a:ea typeface="+mn-ea"/>
              </a:rPr>
              <a:t>→  https://pvm.co.za/product/pvm-energy-bar/</a:t>
            </a:r>
          </a:p>
        </p:txBody>
      </p:sp>
      <p:sp>
        <p:nvSpPr>
          <p:cNvPr id="37" name="kpi-Total Clicks-bg"/>
          <p:cNvSpPr/>
          <p:nvPr/>
        </p:nvSpPr>
        <p:spPr>
          <a:xfrm>
            <a:off x="1975104" y="1865376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kpi-Total Clicks-lbl"/>
          <p:cNvSpPr txBox="1"/>
          <p:nvPr/>
        </p:nvSpPr>
        <p:spPr>
          <a:xfrm>
            <a:off x="2103120" y="1975104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TOTAL CLICKS</a:t>
            </a:r>
          </a:p>
        </p:txBody>
      </p:sp>
      <p:sp>
        <p:nvSpPr>
          <p:cNvPr id="39" name="kpi-Total Clicks-val"/>
          <p:cNvSpPr txBox="1"/>
          <p:nvPr/>
        </p:nvSpPr>
        <p:spPr>
          <a:xfrm>
            <a:off x="2103120" y="2139696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286</a:t>
            </a:r>
          </a:p>
        </p:txBody>
      </p:sp>
      <p:sp>
        <p:nvSpPr>
          <p:cNvPr id="40" name="kpi-Total Clicks-delta"/>
          <p:cNvSpPr txBox="1"/>
          <p:nvPr/>
        </p:nvSpPr>
        <p:spPr>
          <a:xfrm>
            <a:off x="2103120" y="2468880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Segoe UI"/>
                <a:ea typeface="+mn-ea"/>
              </a:rPr>
              <a:t>+23 this week</a:t>
            </a:r>
          </a:p>
        </p:txBody>
      </p:sp>
      <p:sp>
        <p:nvSpPr>
          <p:cNvPr id="41" name="kpi-Last Click-bg"/>
          <p:cNvSpPr/>
          <p:nvPr/>
        </p:nvSpPr>
        <p:spPr>
          <a:xfrm>
            <a:off x="4506391" y="1865376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-Last Click-lbl"/>
          <p:cNvSpPr txBox="1"/>
          <p:nvPr/>
        </p:nvSpPr>
        <p:spPr>
          <a:xfrm>
            <a:off x="4634407" y="1975104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LAST CLICK</a:t>
            </a:r>
          </a:p>
        </p:txBody>
      </p:sp>
      <p:sp>
        <p:nvSpPr>
          <p:cNvPr id="43" name="kpi-Last Click-val"/>
          <p:cNvSpPr txBox="1"/>
          <p:nvPr/>
        </p:nvSpPr>
        <p:spPr>
          <a:xfrm>
            <a:off x="4634407" y="2139696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Today
10:32 AM</a:t>
            </a:r>
          </a:p>
        </p:txBody>
      </p:sp>
      <p:sp>
        <p:nvSpPr>
          <p:cNvPr id="44" name="kpi-Created-bg"/>
          <p:cNvSpPr/>
          <p:nvPr/>
        </p:nvSpPr>
        <p:spPr>
          <a:xfrm>
            <a:off x="7037679" y="1865376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-Created-lbl"/>
          <p:cNvSpPr txBox="1"/>
          <p:nvPr/>
        </p:nvSpPr>
        <p:spPr>
          <a:xfrm>
            <a:off x="7165695" y="1975104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CREATED</a:t>
            </a:r>
          </a:p>
        </p:txBody>
      </p:sp>
      <p:sp>
        <p:nvSpPr>
          <p:cNvPr id="46" name="kpi-Created-val"/>
          <p:cNvSpPr txBox="1"/>
          <p:nvPr/>
        </p:nvSpPr>
        <p:spPr>
          <a:xfrm>
            <a:off x="7165695" y="2139696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2026/05/13</a:t>
            </a:r>
          </a:p>
        </p:txBody>
      </p:sp>
      <p:sp>
        <p:nvSpPr>
          <p:cNvPr id="47" name="kpi-Created-delta"/>
          <p:cNvSpPr txBox="1"/>
          <p:nvPr/>
        </p:nvSpPr>
        <p:spPr>
          <a:xfrm>
            <a:off x="7165695" y="2468880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By Marius</a:t>
            </a:r>
          </a:p>
        </p:txBody>
      </p:sp>
      <p:sp>
        <p:nvSpPr>
          <p:cNvPr id="48" name="kpi-Code-bg"/>
          <p:cNvSpPr/>
          <p:nvPr/>
        </p:nvSpPr>
        <p:spPr>
          <a:xfrm>
            <a:off x="9568967" y="1865376"/>
            <a:ext cx="2421559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-Code-lbl"/>
          <p:cNvSpPr txBox="1"/>
          <p:nvPr/>
        </p:nvSpPr>
        <p:spPr>
          <a:xfrm>
            <a:off x="9696983" y="1975104"/>
            <a:ext cx="216552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80">
                <a:solidFill>
                  <a:srgbClr val="6B7280"/>
                </a:solidFill>
                <a:latin typeface="Segoe UI"/>
                <a:ea typeface="+mn-ea"/>
              </a:rPr>
              <a:t>CODE</a:t>
            </a:r>
          </a:p>
        </p:txBody>
      </p:sp>
      <p:sp>
        <p:nvSpPr>
          <p:cNvPr id="50" name="kpi-Code-val"/>
          <p:cNvSpPr txBox="1"/>
          <p:nvPr/>
        </p:nvSpPr>
        <p:spPr>
          <a:xfrm>
            <a:off x="9696983" y="2139696"/>
            <a:ext cx="2165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35"/>
                </a:solidFill>
                <a:latin typeface="Segoe UI"/>
                <a:ea typeface="+mn-ea"/>
              </a:rPr>
              <a:t>4frr2zc5</a:t>
            </a:r>
          </a:p>
        </p:txBody>
      </p:sp>
      <p:sp>
        <p:nvSpPr>
          <p:cNvPr id="51" name="kpi-Code-delta"/>
          <p:cNvSpPr txBox="1"/>
          <p:nvPr/>
        </p:nvSpPr>
        <p:spPr>
          <a:xfrm>
            <a:off x="9696983" y="2468880"/>
            <a:ext cx="2165527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Stable · Print / QR</a:t>
            </a:r>
          </a:p>
        </p:txBody>
      </p:sp>
      <p:sp>
        <p:nvSpPr>
          <p:cNvPr id="52" name="chart-card"/>
          <p:cNvSpPr/>
          <p:nvPr/>
        </p:nvSpPr>
        <p:spPr>
          <a:xfrm>
            <a:off x="1975104" y="2798064"/>
            <a:ext cx="4943703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-hd-bg"/>
          <p:cNvSpPr/>
          <p:nvPr/>
        </p:nvSpPr>
        <p:spPr>
          <a:xfrm>
            <a:off x="1975104" y="2798064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-hd-title"/>
          <p:cNvSpPr txBox="1"/>
          <p:nvPr/>
        </p:nvSpPr>
        <p:spPr>
          <a:xfrm>
            <a:off x="2103120" y="2852928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Click activity</a:t>
            </a:r>
          </a:p>
        </p:txBody>
      </p:sp>
      <p:sp>
        <p:nvSpPr>
          <p:cNvPr id="55" name="chart-hd-sub"/>
          <p:cNvSpPr txBox="1"/>
          <p:nvPr/>
        </p:nvSpPr>
        <p:spPr>
          <a:xfrm>
            <a:off x="2103120" y="2999232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Last 14 days · 286 total</a:t>
            </a:r>
          </a:p>
        </p:txBody>
      </p:sp>
      <p:sp>
        <p:nvSpPr>
          <p:cNvPr id="56" name="chart-bg"/>
          <p:cNvSpPr/>
          <p:nvPr/>
        </p:nvSpPr>
        <p:spPr>
          <a:xfrm>
            <a:off x="2103120" y="3200400"/>
            <a:ext cx="4687671" cy="1097280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-0"/>
          <p:cNvSpPr/>
          <p:nvPr/>
        </p:nvSpPr>
        <p:spPr>
          <a:xfrm>
            <a:off x="2157984" y="3368967"/>
            <a:ext cx="209271" cy="892136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ar-1"/>
          <p:cNvSpPr/>
          <p:nvPr/>
        </p:nvSpPr>
        <p:spPr>
          <a:xfrm>
            <a:off x="2403831" y="3460208"/>
            <a:ext cx="209271" cy="800895"/>
          </a:xfrm>
          <a:prstGeom prst="rect">
            <a:avLst/>
          </a:prstGeom>
          <a:solidFill>
            <a:srgbClr val="1F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ar-2"/>
          <p:cNvSpPr/>
          <p:nvPr/>
        </p:nvSpPr>
        <p:spPr>
          <a:xfrm>
            <a:off x="2649678" y="3328416"/>
            <a:ext cx="209271" cy="932688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-3"/>
          <p:cNvSpPr/>
          <p:nvPr/>
        </p:nvSpPr>
        <p:spPr>
          <a:xfrm>
            <a:off x="2895525" y="3541312"/>
            <a:ext cx="209271" cy="719791"/>
          </a:xfrm>
          <a:prstGeom prst="rect">
            <a:avLst/>
          </a:prstGeom>
          <a:solidFill>
            <a:srgbClr val="2B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ar-4"/>
          <p:cNvSpPr/>
          <p:nvPr/>
        </p:nvSpPr>
        <p:spPr>
          <a:xfrm>
            <a:off x="3141372" y="3652829"/>
            <a:ext cx="209271" cy="608274"/>
          </a:xfrm>
          <a:prstGeom prst="rect">
            <a:avLst/>
          </a:prstGeom>
          <a:solidFill>
            <a:srgbClr val="3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ar-5"/>
          <p:cNvSpPr/>
          <p:nvPr/>
        </p:nvSpPr>
        <p:spPr>
          <a:xfrm>
            <a:off x="3387219" y="3602139"/>
            <a:ext cx="209271" cy="658964"/>
          </a:xfrm>
          <a:prstGeom prst="rect">
            <a:avLst/>
          </a:prstGeom>
          <a:solidFill>
            <a:srgbClr val="33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ar-6"/>
          <p:cNvSpPr/>
          <p:nvPr/>
        </p:nvSpPr>
        <p:spPr>
          <a:xfrm>
            <a:off x="3633066" y="3825173"/>
            <a:ext cx="209271" cy="435930"/>
          </a:xfrm>
          <a:prstGeom prst="rect">
            <a:avLst/>
          </a:prstGeom>
          <a:solidFill>
            <a:srgbClr val="5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ar-7"/>
          <p:cNvSpPr/>
          <p:nvPr/>
        </p:nvSpPr>
        <p:spPr>
          <a:xfrm>
            <a:off x="3878913" y="3733932"/>
            <a:ext cx="209271" cy="527171"/>
          </a:xfrm>
          <a:prstGeom prst="rect">
            <a:avLst/>
          </a:prstGeom>
          <a:solidFill>
            <a:srgbClr val="46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ar-8"/>
          <p:cNvSpPr/>
          <p:nvPr/>
        </p:nvSpPr>
        <p:spPr>
          <a:xfrm>
            <a:off x="4124760" y="3886001"/>
            <a:ext cx="209271" cy="375102"/>
          </a:xfrm>
          <a:prstGeom prst="rect">
            <a:avLst/>
          </a:prstGeom>
          <a:solidFill>
            <a:srgbClr val="5B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ar-9"/>
          <p:cNvSpPr/>
          <p:nvPr/>
        </p:nvSpPr>
        <p:spPr>
          <a:xfrm>
            <a:off x="4370607" y="4007656"/>
            <a:ext cx="209271" cy="253447"/>
          </a:xfrm>
          <a:prstGeom prst="rect">
            <a:avLst/>
          </a:prstGeom>
          <a:solidFill>
            <a:srgbClr val="6D3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bar-10"/>
          <p:cNvSpPr/>
          <p:nvPr/>
        </p:nvSpPr>
        <p:spPr>
          <a:xfrm>
            <a:off x="4616454" y="4109035"/>
            <a:ext cx="209271" cy="152068"/>
          </a:xfrm>
          <a:prstGeom prst="rect">
            <a:avLst/>
          </a:prstGeom>
          <a:solidFill>
            <a:srgbClr val="7B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ar-11"/>
          <p:cNvSpPr/>
          <p:nvPr/>
        </p:nvSpPr>
        <p:spPr>
          <a:xfrm>
            <a:off x="4862301" y="4200276"/>
            <a:ext cx="209271" cy="60827"/>
          </a:xfrm>
          <a:prstGeom prst="rect">
            <a:avLst/>
          </a:prstGeom>
          <a:solidFill>
            <a:srgbClr val="88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-12"/>
          <p:cNvSpPr/>
          <p:nvPr/>
        </p:nvSpPr>
        <p:spPr>
          <a:xfrm>
            <a:off x="5108148" y="4220552"/>
            <a:ext cx="209271" cy="40551"/>
          </a:xfrm>
          <a:prstGeom prst="rect">
            <a:avLst/>
          </a:prstGeom>
          <a:solidFill>
            <a:srgbClr val="8B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ar-13"/>
          <p:cNvSpPr/>
          <p:nvPr/>
        </p:nvSpPr>
        <p:spPr>
          <a:xfrm>
            <a:off x="5353995" y="4220552"/>
            <a:ext cx="209271" cy="40551"/>
          </a:xfrm>
          <a:prstGeom prst="rect">
            <a:avLst/>
          </a:prstGeom>
          <a:solidFill>
            <a:srgbClr val="8B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f-card"/>
          <p:cNvSpPr/>
          <p:nvPr/>
        </p:nvSpPr>
        <p:spPr>
          <a:xfrm>
            <a:off x="7046823" y="2798064"/>
            <a:ext cx="4943703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f-hd-bg"/>
          <p:cNvSpPr/>
          <p:nvPr/>
        </p:nvSpPr>
        <p:spPr>
          <a:xfrm>
            <a:off x="7046823" y="2798064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f-hd-title"/>
          <p:cNvSpPr txBox="1"/>
          <p:nvPr/>
        </p:nvSpPr>
        <p:spPr>
          <a:xfrm>
            <a:off x="7174839" y="2852928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Top referrers</a:t>
            </a:r>
          </a:p>
        </p:txBody>
      </p:sp>
      <p:sp>
        <p:nvSpPr>
          <p:cNvPr id="74" name="ref-hd-sub"/>
          <p:cNvSpPr txBox="1"/>
          <p:nvPr/>
        </p:nvSpPr>
        <p:spPr>
          <a:xfrm>
            <a:off x="7174839" y="2999232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Source of 286 clicks</a:t>
            </a:r>
          </a:p>
        </p:txBody>
      </p:sp>
      <p:sp>
        <p:nvSpPr>
          <p:cNvPr id="75" name="ref-src-Direct"/>
          <p:cNvSpPr txBox="1"/>
          <p:nvPr/>
        </p:nvSpPr>
        <p:spPr>
          <a:xfrm>
            <a:off x="7174839" y="3200400"/>
            <a:ext cx="28673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Direct / No referrer</a:t>
            </a:r>
          </a:p>
        </p:txBody>
      </p:sp>
      <p:sp>
        <p:nvSpPr>
          <p:cNvPr id="76" name="ref-cnt-Direct"/>
          <p:cNvSpPr txBox="1"/>
          <p:nvPr/>
        </p:nvSpPr>
        <p:spPr>
          <a:xfrm>
            <a:off x="10013045" y="3200400"/>
            <a:ext cx="177973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120 · 42%</a:t>
            </a:r>
          </a:p>
        </p:txBody>
      </p:sp>
      <p:sp>
        <p:nvSpPr>
          <p:cNvPr id="77" name="ref-prog-Direct-track"/>
          <p:cNvSpPr/>
          <p:nvPr/>
        </p:nvSpPr>
        <p:spPr>
          <a:xfrm>
            <a:off x="7174839" y="3364992"/>
            <a:ext cx="4687671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f-prog-Direct-fill"/>
          <p:cNvSpPr/>
          <p:nvPr/>
        </p:nvSpPr>
        <p:spPr>
          <a:xfrm>
            <a:off x="7174839" y="3364992"/>
            <a:ext cx="1968822" cy="5029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f-src-instag"/>
          <p:cNvSpPr txBox="1"/>
          <p:nvPr/>
        </p:nvSpPr>
        <p:spPr>
          <a:xfrm>
            <a:off x="7174839" y="3511296"/>
            <a:ext cx="28673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instagram.com</a:t>
            </a:r>
          </a:p>
        </p:txBody>
      </p:sp>
      <p:sp>
        <p:nvSpPr>
          <p:cNvPr id="80" name="ref-cnt-instag"/>
          <p:cNvSpPr txBox="1"/>
          <p:nvPr/>
        </p:nvSpPr>
        <p:spPr>
          <a:xfrm>
            <a:off x="10013045" y="3511296"/>
            <a:ext cx="177973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80 · 28%</a:t>
            </a:r>
          </a:p>
        </p:txBody>
      </p:sp>
      <p:sp>
        <p:nvSpPr>
          <p:cNvPr id="81" name="ref-prog-instag-track"/>
          <p:cNvSpPr/>
          <p:nvPr/>
        </p:nvSpPr>
        <p:spPr>
          <a:xfrm>
            <a:off x="7174839" y="3675888"/>
            <a:ext cx="4687671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f-prog-instag-fill"/>
          <p:cNvSpPr/>
          <p:nvPr/>
        </p:nvSpPr>
        <p:spPr>
          <a:xfrm>
            <a:off x="7174839" y="3675888"/>
            <a:ext cx="1312548" cy="502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f-src-google"/>
          <p:cNvSpPr txBox="1"/>
          <p:nvPr/>
        </p:nvSpPr>
        <p:spPr>
          <a:xfrm>
            <a:off x="7174839" y="3822192"/>
            <a:ext cx="28673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google.com</a:t>
            </a:r>
          </a:p>
        </p:txBody>
      </p:sp>
      <p:sp>
        <p:nvSpPr>
          <p:cNvPr id="84" name="ref-cnt-google"/>
          <p:cNvSpPr txBox="1"/>
          <p:nvPr/>
        </p:nvSpPr>
        <p:spPr>
          <a:xfrm>
            <a:off x="10013045" y="3822192"/>
            <a:ext cx="177973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40 · 14%</a:t>
            </a:r>
          </a:p>
        </p:txBody>
      </p:sp>
      <p:sp>
        <p:nvSpPr>
          <p:cNvPr id="85" name="ref-prog-google-track"/>
          <p:cNvSpPr/>
          <p:nvPr/>
        </p:nvSpPr>
        <p:spPr>
          <a:xfrm>
            <a:off x="7174839" y="3986784"/>
            <a:ext cx="4687671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f-prog-google-fill"/>
          <p:cNvSpPr/>
          <p:nvPr/>
        </p:nvSpPr>
        <p:spPr>
          <a:xfrm>
            <a:off x="7174839" y="3986784"/>
            <a:ext cx="656274" cy="5029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f-src-facebo"/>
          <p:cNvSpPr txBox="1"/>
          <p:nvPr/>
        </p:nvSpPr>
        <p:spPr>
          <a:xfrm>
            <a:off x="7174839" y="4133088"/>
            <a:ext cx="28673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facebook.com</a:t>
            </a:r>
          </a:p>
        </p:txBody>
      </p:sp>
      <p:sp>
        <p:nvSpPr>
          <p:cNvPr id="88" name="ref-cnt-facebo"/>
          <p:cNvSpPr txBox="1"/>
          <p:nvPr/>
        </p:nvSpPr>
        <p:spPr>
          <a:xfrm>
            <a:off x="10013045" y="4133088"/>
            <a:ext cx="177973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26 · 9%</a:t>
            </a:r>
          </a:p>
        </p:txBody>
      </p:sp>
      <p:sp>
        <p:nvSpPr>
          <p:cNvPr id="89" name="ref-prog-facebo-track"/>
          <p:cNvSpPr/>
          <p:nvPr/>
        </p:nvSpPr>
        <p:spPr>
          <a:xfrm>
            <a:off x="7174839" y="4297680"/>
            <a:ext cx="4687671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f-prog-facebo-fill"/>
          <p:cNvSpPr/>
          <p:nvPr/>
        </p:nvSpPr>
        <p:spPr>
          <a:xfrm>
            <a:off x="7174839" y="4297680"/>
            <a:ext cx="421890" cy="5029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f-src-email "/>
          <p:cNvSpPr txBox="1"/>
          <p:nvPr/>
        </p:nvSpPr>
        <p:spPr>
          <a:xfrm>
            <a:off x="7174839" y="4443984"/>
            <a:ext cx="28673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F35"/>
                </a:solidFill>
                <a:latin typeface="Segoe UI"/>
                <a:ea typeface="+mn-ea"/>
              </a:rPr>
              <a:t>email / newsletter</a:t>
            </a:r>
          </a:p>
        </p:txBody>
      </p:sp>
      <p:sp>
        <p:nvSpPr>
          <p:cNvPr id="92" name="ref-cnt-email "/>
          <p:cNvSpPr txBox="1"/>
          <p:nvPr/>
        </p:nvSpPr>
        <p:spPr>
          <a:xfrm>
            <a:off x="10013045" y="4443984"/>
            <a:ext cx="177973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20 · 7%</a:t>
            </a:r>
          </a:p>
        </p:txBody>
      </p:sp>
      <p:sp>
        <p:nvSpPr>
          <p:cNvPr id="93" name="ref-prog-email -track"/>
          <p:cNvSpPr/>
          <p:nvPr/>
        </p:nvSpPr>
        <p:spPr>
          <a:xfrm>
            <a:off x="7174839" y="4608576"/>
            <a:ext cx="4687671" cy="502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f-prog-email -fill"/>
          <p:cNvSpPr/>
          <p:nvPr/>
        </p:nvSpPr>
        <p:spPr>
          <a:xfrm>
            <a:off x="7174839" y="4608576"/>
            <a:ext cx="328137" cy="502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licks-card"/>
          <p:cNvSpPr/>
          <p:nvPr/>
        </p:nvSpPr>
        <p:spPr>
          <a:xfrm>
            <a:off x="1975104" y="4645152"/>
            <a:ext cx="10015423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licks-hd-bg"/>
          <p:cNvSpPr/>
          <p:nvPr/>
        </p:nvSpPr>
        <p:spPr>
          <a:xfrm>
            <a:off x="1975104" y="4645152"/>
            <a:ext cx="1001542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licks-hd-title"/>
          <p:cNvSpPr txBox="1"/>
          <p:nvPr/>
        </p:nvSpPr>
        <p:spPr>
          <a:xfrm>
            <a:off x="2103120" y="4700016"/>
            <a:ext cx="9759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Recent clicks</a:t>
            </a:r>
          </a:p>
        </p:txBody>
      </p:sp>
      <p:sp>
        <p:nvSpPr>
          <p:cNvPr id="98" name="clicks-hd-sub"/>
          <p:cNvSpPr txBox="1"/>
          <p:nvPr/>
        </p:nvSpPr>
        <p:spPr>
          <a:xfrm>
            <a:off x="2103120" y="4846320"/>
            <a:ext cx="975939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Last 20 recorded events</a:t>
            </a:r>
          </a:p>
        </p:txBody>
      </p:sp>
      <p:sp>
        <p:nvSpPr>
          <p:cNvPr id="99" name="clicks-th-bg"/>
          <p:cNvSpPr/>
          <p:nvPr/>
        </p:nvSpPr>
        <p:spPr>
          <a:xfrm>
            <a:off x="1975104" y="4974336"/>
            <a:ext cx="10015423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licks-th-Referrer"/>
          <p:cNvSpPr txBox="1"/>
          <p:nvPr/>
        </p:nvSpPr>
        <p:spPr>
          <a:xfrm>
            <a:off x="2029968" y="5020056"/>
            <a:ext cx="273116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REFERRER</a:t>
            </a:r>
          </a:p>
        </p:txBody>
      </p:sp>
      <p:sp>
        <p:nvSpPr>
          <p:cNvPr id="101" name="clicks-th-Device / Browser"/>
          <p:cNvSpPr txBox="1"/>
          <p:nvPr/>
        </p:nvSpPr>
        <p:spPr>
          <a:xfrm>
            <a:off x="4834286" y="5020056"/>
            <a:ext cx="233054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DEVICE / BROWSER</a:t>
            </a:r>
          </a:p>
        </p:txBody>
      </p:sp>
      <p:sp>
        <p:nvSpPr>
          <p:cNvPr id="102" name="clicks-th-Result"/>
          <p:cNvSpPr txBox="1"/>
          <p:nvPr/>
        </p:nvSpPr>
        <p:spPr>
          <a:xfrm>
            <a:off x="7237987" y="5020056"/>
            <a:ext cx="1729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RESULT</a:t>
            </a:r>
          </a:p>
        </p:txBody>
      </p:sp>
      <p:sp>
        <p:nvSpPr>
          <p:cNvPr id="103" name="clicks-th-Timestamp"/>
          <p:cNvSpPr txBox="1"/>
          <p:nvPr/>
        </p:nvSpPr>
        <p:spPr>
          <a:xfrm>
            <a:off x="9040764" y="5020056"/>
            <a:ext cx="293147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100">
                <a:solidFill>
                  <a:srgbClr val="6B7280"/>
                </a:solidFill>
                <a:latin typeface="Segoe UI"/>
                <a:ea typeface="+mn-ea"/>
              </a:rPr>
              <a:t>TIMESTAMP</a:t>
            </a:r>
          </a:p>
        </p:txBody>
      </p:sp>
      <p:sp>
        <p:nvSpPr>
          <p:cNvPr id="104" name="cr-0-No ref"/>
          <p:cNvSpPr txBox="1"/>
          <p:nvPr/>
        </p:nvSpPr>
        <p:spPr>
          <a:xfrm>
            <a:off x="2048256" y="5230368"/>
            <a:ext cx="271287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D1F35"/>
                </a:solidFill>
                <a:latin typeface="Cascadia Code"/>
                <a:ea typeface="+mn-ea"/>
              </a:rPr>
              <a:t>No referrer</a:t>
            </a:r>
          </a:p>
        </p:txBody>
      </p:sp>
      <p:sp>
        <p:nvSpPr>
          <p:cNvPr id="105" name="cr-0-Chrome"/>
          <p:cNvSpPr txBox="1"/>
          <p:nvPr/>
        </p:nvSpPr>
        <p:spPr>
          <a:xfrm>
            <a:off x="4852574" y="5230368"/>
            <a:ext cx="231226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D1F35"/>
                </a:solidFill>
                <a:latin typeface="Segoe UI"/>
                <a:ea typeface="+mn-ea"/>
              </a:rPr>
              <a:t>Chrome · Win 10</a:t>
            </a:r>
          </a:p>
        </p:txBody>
      </p:sp>
      <p:sp>
        <p:nvSpPr>
          <p:cNvPr id="106" name="cr-0-Matche"/>
          <p:cNvSpPr txBox="1"/>
          <p:nvPr/>
        </p:nvSpPr>
        <p:spPr>
          <a:xfrm>
            <a:off x="7256275" y="5230368"/>
            <a:ext cx="1711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284C7"/>
                </a:solidFill>
                <a:latin typeface="Segoe UI"/>
                <a:ea typeface="+mn-ea"/>
              </a:rPr>
              <a:t>Matched</a:t>
            </a:r>
          </a:p>
        </p:txBody>
      </p:sp>
      <p:sp>
        <p:nvSpPr>
          <p:cNvPr id="107" name="cr-0-2026/0"/>
          <p:cNvSpPr txBox="1"/>
          <p:nvPr/>
        </p:nvSpPr>
        <p:spPr>
          <a:xfrm>
            <a:off x="9059052" y="5230368"/>
            <a:ext cx="291318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scadia Code"/>
                <a:ea typeface="+mn-ea"/>
              </a:rPr>
              <a:t>2026/05/13 10:32:19</a:t>
            </a:r>
          </a:p>
        </p:txBody>
      </p:sp>
      <p:sp>
        <p:nvSpPr>
          <p:cNvPr id="108" name="cr-div-0"/>
          <p:cNvSpPr/>
          <p:nvPr/>
        </p:nvSpPr>
        <p:spPr>
          <a:xfrm>
            <a:off x="1975104" y="5394960"/>
            <a:ext cx="10015423" cy="9144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Screen 04 — Redirect Detail / Analytics</a:t>
            </a:r>
          </a:p>
        </p:txBody>
      </p:sp>
      <p:sp>
        <p:nvSpPr>
          <p:cNvPr id="110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ripe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-sidebar-bg"/>
          <p:cNvSpPr/>
          <p:nvPr/>
        </p:nvSpPr>
        <p:spPr>
          <a:xfrm>
            <a:off x="0" y="0"/>
            <a:ext cx="1737360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debar-accent-stripe"/>
          <p:cNvSpPr/>
          <p:nvPr/>
        </p:nvSpPr>
        <p:spPr>
          <a:xfrm>
            <a:off x="0" y="0"/>
            <a:ext cx="1737360" cy="36576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debar-logo-bg"/>
          <p:cNvSpPr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idebar-logo"/>
          <p:cNvSpPr txBox="1"/>
          <p:nvPr/>
        </p:nvSpPr>
        <p:spPr>
          <a:xfrm>
            <a:off x="164592" y="1280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F35"/>
                </a:solidFill>
                <a:latin typeface="Segoe UI"/>
                <a:ea typeface="+mn-ea"/>
              </a:rPr>
              <a:t>P</a:t>
            </a:r>
          </a:p>
        </p:txBody>
      </p:sp>
      <p:sp>
        <p:nvSpPr>
          <p:cNvPr id="7" name="sidebar-name"/>
          <p:cNvSpPr txBox="1"/>
          <p:nvPr/>
        </p:nvSpPr>
        <p:spPr>
          <a:xfrm>
            <a:off x="512064" y="146304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PVM URL Admin</a:t>
            </a:r>
          </a:p>
        </p:txBody>
      </p:sp>
      <p:sp>
        <p:nvSpPr>
          <p:cNvPr id="8" name="sidebar-sub"/>
          <p:cNvSpPr txBox="1"/>
          <p:nvPr/>
        </p:nvSpPr>
        <p:spPr>
          <a:xfrm>
            <a:off x="512064" y="301752"/>
            <a:ext cx="11155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spc="120">
                <a:solidFill>
                  <a:srgbClr val="9BA0A6"/>
                </a:solidFill>
                <a:latin typeface="Segoe UI"/>
                <a:ea typeface="+mn-ea"/>
              </a:rPr>
              <a:t>MANAGED REDIRECTS</a:t>
            </a:r>
          </a:p>
        </p:txBody>
      </p:sp>
      <p:sp>
        <p:nvSpPr>
          <p:cNvPr id="9" name="sidebar-section-overview"/>
          <p:cNvSpPr txBox="1"/>
          <p:nvPr/>
        </p:nvSpPr>
        <p:spPr>
          <a:xfrm>
            <a:off x="164592" y="5669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OVERVIEW</a:t>
            </a:r>
          </a:p>
        </p:txBody>
      </p:sp>
      <p:sp>
        <p:nvSpPr>
          <p:cNvPr id="10" name="sidebar-item-dashboard"/>
          <p:cNvSpPr txBox="1"/>
          <p:nvPr/>
        </p:nvSpPr>
        <p:spPr>
          <a:xfrm>
            <a:off x="201168" y="749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Dashboard</a:t>
            </a:r>
          </a:p>
        </p:txBody>
      </p:sp>
      <p:sp>
        <p:nvSpPr>
          <p:cNvPr id="11" name="sidebar-section-redirects"/>
          <p:cNvSpPr txBox="1"/>
          <p:nvPr/>
        </p:nvSpPr>
        <p:spPr>
          <a:xfrm>
            <a:off x="164592" y="102412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REDIRECTS</a:t>
            </a:r>
          </a:p>
        </p:txBody>
      </p:sp>
      <p:sp>
        <p:nvSpPr>
          <p:cNvPr id="12" name="sidebar-item-all-redirects"/>
          <p:cNvSpPr txBox="1"/>
          <p:nvPr/>
        </p:nvSpPr>
        <p:spPr>
          <a:xfrm>
            <a:off x="201168" y="1207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All Redirects</a:t>
            </a:r>
          </a:p>
        </p:txBody>
      </p:sp>
      <p:sp>
        <p:nvSpPr>
          <p:cNvPr id="13" name="sidebar-item-new-redirect"/>
          <p:cNvSpPr txBox="1"/>
          <p:nvPr/>
        </p:nvSpPr>
        <p:spPr>
          <a:xfrm>
            <a:off x="201168" y="1481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New Redirect</a:t>
            </a:r>
          </a:p>
        </p:txBody>
      </p:sp>
      <p:sp>
        <p:nvSpPr>
          <p:cNvPr id="14" name="sidebar-section-organisation"/>
          <p:cNvSpPr txBox="1"/>
          <p:nvPr/>
        </p:nvSpPr>
        <p:spPr>
          <a:xfrm>
            <a:off x="164592" y="17556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15" name="sidebar-active-bg-tags"/>
          <p:cNvSpPr/>
          <p:nvPr/>
        </p:nvSpPr>
        <p:spPr>
          <a:xfrm>
            <a:off x="91440" y="1920240"/>
            <a:ext cx="1554480" cy="256032"/>
          </a:xfrm>
          <a:prstGeom prst="rect">
            <a:avLst/>
          </a:prstGeom>
          <a:solidFill>
            <a:srgbClr val="1A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idebar-item-tags-&amp;-categories"/>
          <p:cNvSpPr txBox="1"/>
          <p:nvPr/>
        </p:nvSpPr>
        <p:spPr>
          <a:xfrm>
            <a:off x="201168" y="1938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400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17" name="sidebar-section-system"/>
          <p:cNvSpPr txBox="1"/>
          <p:nvPr/>
        </p:nvSpPr>
        <p:spPr>
          <a:xfrm>
            <a:off x="164592" y="2212848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 spc="150">
                <a:solidFill>
                  <a:srgbClr val="728090"/>
                </a:solidFill>
                <a:latin typeface="Segoe UI"/>
                <a:ea typeface="+mn-ea"/>
              </a:rPr>
              <a:t>SYSTEM</a:t>
            </a:r>
          </a:p>
        </p:txBody>
      </p:sp>
      <p:sp>
        <p:nvSpPr>
          <p:cNvPr id="18" name="sidebar-item-settings"/>
          <p:cNvSpPr txBox="1"/>
          <p:nvPr/>
        </p:nvSpPr>
        <p:spPr>
          <a:xfrm>
            <a:off x="201168" y="2395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8"/>
                </a:solidFill>
                <a:latin typeface="Segoe UI"/>
                <a:ea typeface="+mn-ea"/>
              </a:rPr>
              <a:t>Settings</a:t>
            </a:r>
          </a:p>
        </p:txBody>
      </p:sp>
      <p:sp>
        <p:nvSpPr>
          <p:cNvPr id="19" name="sidebar-user-bg"/>
          <p:cNvSpPr/>
          <p:nvPr/>
        </p:nvSpPr>
        <p:spPr>
          <a:xfrm>
            <a:off x="91440" y="6309360"/>
            <a:ext cx="1554480" cy="310896"/>
          </a:xfrm>
          <a:prstGeom prst="rect">
            <a:avLst/>
          </a:prstGeom>
          <a:solidFill>
            <a:srgbClr val="1A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bar-av-bg"/>
          <p:cNvSpPr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bar-av"/>
          <p:cNvSpPr txBox="1"/>
          <p:nvPr/>
        </p:nvSpPr>
        <p:spPr>
          <a:xfrm>
            <a:off x="164592" y="634593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+mn-ea"/>
              </a:rPr>
              <a:t>M</a:t>
            </a:r>
          </a:p>
        </p:txBody>
      </p:sp>
      <p:sp>
        <p:nvSpPr>
          <p:cNvPr id="22" name="sidebar-user-name"/>
          <p:cNvSpPr txBox="1"/>
          <p:nvPr/>
        </p:nvSpPr>
        <p:spPr>
          <a:xfrm>
            <a:off x="457200" y="63550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D0D6"/>
                </a:solidFill>
                <a:latin typeface="Segoe UI"/>
                <a:ea typeface="+mn-ea"/>
              </a:rPr>
              <a:t>Marius</a:t>
            </a:r>
          </a:p>
        </p:txBody>
      </p:sp>
      <p:sp>
        <p:nvSpPr>
          <p:cNvPr id="23" name="sidebar-user-role"/>
          <p:cNvSpPr txBox="1"/>
          <p:nvPr/>
        </p:nvSpPr>
        <p:spPr>
          <a:xfrm>
            <a:off x="457200" y="6492240"/>
            <a:ext cx="10972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28090"/>
                </a:solidFill>
                <a:latin typeface="Segoe UI"/>
                <a:ea typeface="+mn-ea"/>
              </a:rPr>
              <a:t>Administrator</a:t>
            </a:r>
          </a:p>
        </p:txBody>
      </p:sp>
      <p:sp>
        <p:nvSpPr>
          <p:cNvPr id="24" name="topbar-bg"/>
          <p:cNvSpPr/>
          <p:nvPr/>
        </p:nvSpPr>
        <p:spPr>
          <a:xfrm>
            <a:off x="1737360" y="0"/>
            <a:ext cx="1045433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bar-bc"/>
          <p:cNvSpPr txBox="1"/>
          <p:nvPr/>
        </p:nvSpPr>
        <p:spPr>
          <a:xfrm>
            <a:off x="1938528" y="109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PVM URL Admin  ›  Organisation  ›  Tags &amp; Categories</a:t>
            </a:r>
          </a:p>
        </p:txBody>
      </p:sp>
      <p:sp>
        <p:nvSpPr>
          <p:cNvPr id="26" name="topbar-btn-bg"/>
          <p:cNvSpPr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bar-btn"/>
          <p:cNvSpPr txBox="1"/>
          <p:nvPr/>
        </p:nvSpPr>
        <p:spPr>
          <a:xfrm>
            <a:off x="10911535" y="9144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+ New redirect</a:t>
            </a:r>
          </a:p>
        </p:txBody>
      </p:sp>
      <p:sp>
        <p:nvSpPr>
          <p:cNvPr id="28" name="pg-eyebrow"/>
          <p:cNvSpPr txBox="1"/>
          <p:nvPr/>
        </p:nvSpPr>
        <p:spPr>
          <a:xfrm>
            <a:off x="1993392" y="612648"/>
            <a:ext cx="994227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spc="120">
                <a:solidFill>
                  <a:srgbClr val="6B7280"/>
                </a:solidFill>
                <a:latin typeface="Segoe UI"/>
                <a:ea typeface="+mn-ea"/>
              </a:rPr>
              <a:t>Organisation</a:t>
            </a:r>
          </a:p>
        </p:txBody>
      </p:sp>
      <p:sp>
        <p:nvSpPr>
          <p:cNvPr id="29" name="pg-title"/>
          <p:cNvSpPr txBox="1"/>
          <p:nvPr/>
        </p:nvSpPr>
        <p:spPr>
          <a:xfrm>
            <a:off x="1993392" y="777240"/>
            <a:ext cx="9942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35"/>
                </a:solidFill>
                <a:latin typeface="Segoe UI"/>
                <a:ea typeface="+mn-ea"/>
              </a:rPr>
              <a:t>Tags &amp; Categories</a:t>
            </a:r>
          </a:p>
        </p:txBody>
      </p:sp>
      <p:sp>
        <p:nvSpPr>
          <p:cNvPr id="30" name="pg-desc"/>
          <p:cNvSpPr txBox="1"/>
          <p:nvPr/>
        </p:nvSpPr>
        <p:spPr>
          <a:xfrm>
            <a:off x="1993392" y="1088136"/>
            <a:ext cx="99422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Segoe UI"/>
                <a:ea typeface="+mn-ea"/>
              </a:rPr>
              <a:t>Organise redirects for easier filtering and reporting.</a:t>
            </a:r>
          </a:p>
        </p:txBody>
      </p:sp>
      <p:sp>
        <p:nvSpPr>
          <p:cNvPr id="31" name="cats-card"/>
          <p:cNvSpPr/>
          <p:nvPr/>
        </p:nvSpPr>
        <p:spPr>
          <a:xfrm>
            <a:off x="1975104" y="1417320"/>
            <a:ext cx="4943703" cy="23225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ts-hd-bg"/>
          <p:cNvSpPr/>
          <p:nvPr/>
        </p:nvSpPr>
        <p:spPr>
          <a:xfrm>
            <a:off x="1975104" y="1417320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ts-hd-title"/>
          <p:cNvSpPr txBox="1"/>
          <p:nvPr/>
        </p:nvSpPr>
        <p:spPr>
          <a:xfrm>
            <a:off x="2103120" y="1472184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Categories</a:t>
            </a:r>
          </a:p>
        </p:txBody>
      </p:sp>
      <p:sp>
        <p:nvSpPr>
          <p:cNvPr id="34" name="cats-hd-sub"/>
          <p:cNvSpPr txBox="1"/>
          <p:nvPr/>
        </p:nvSpPr>
        <p:spPr>
          <a:xfrm>
            <a:off x="2103120" y="1618488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High-level groupings · 5 total</a:t>
            </a:r>
          </a:p>
        </p:txBody>
      </p:sp>
      <p:sp>
        <p:nvSpPr>
          <p:cNvPr id="35" name="cat-input"/>
          <p:cNvSpPr/>
          <p:nvPr/>
        </p:nvSpPr>
        <p:spPr>
          <a:xfrm>
            <a:off x="2084832" y="1819656"/>
            <a:ext cx="417560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t-input-ph"/>
          <p:cNvSpPr txBox="1"/>
          <p:nvPr/>
        </p:nvSpPr>
        <p:spPr>
          <a:xfrm>
            <a:off x="2157984" y="1874520"/>
            <a:ext cx="40293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New category name…</a:t>
            </a:r>
          </a:p>
        </p:txBody>
      </p:sp>
      <p:sp>
        <p:nvSpPr>
          <p:cNvPr id="37" name="cat-add-btn"/>
          <p:cNvSpPr/>
          <p:nvPr/>
        </p:nvSpPr>
        <p:spPr>
          <a:xfrm>
            <a:off x="6333591" y="1819656"/>
            <a:ext cx="475488" cy="237744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t-add-lbl"/>
          <p:cNvSpPr txBox="1"/>
          <p:nvPr/>
        </p:nvSpPr>
        <p:spPr>
          <a:xfrm>
            <a:off x="6333591" y="1819656"/>
            <a:ext cx="475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Add</a:t>
            </a:r>
          </a:p>
        </p:txBody>
      </p:sp>
      <p:sp>
        <p:nvSpPr>
          <p:cNvPr id="39" name="cat-row-0-bg"/>
          <p:cNvSpPr/>
          <p:nvPr/>
        </p:nvSpPr>
        <p:spPr>
          <a:xfrm>
            <a:off x="1975104" y="2148840"/>
            <a:ext cx="4943703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at-name-0"/>
          <p:cNvSpPr txBox="1"/>
          <p:nvPr/>
        </p:nvSpPr>
        <p:spPr>
          <a:xfrm>
            <a:off x="2103120" y="2203704"/>
            <a:ext cx="27190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General</a:t>
            </a:r>
          </a:p>
        </p:txBody>
      </p:sp>
      <p:sp>
        <p:nvSpPr>
          <p:cNvPr id="41" name="cat-meta-0"/>
          <p:cNvSpPr txBox="1"/>
          <p:nvPr/>
        </p:nvSpPr>
        <p:spPr>
          <a:xfrm>
            <a:off x="2103120" y="2350008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12 redirects · Uncategorised or miscellaneous</a:t>
            </a:r>
          </a:p>
        </p:txBody>
      </p:sp>
      <p:sp>
        <p:nvSpPr>
          <p:cNvPr id="42" name="cat-edit-0"/>
          <p:cNvSpPr/>
          <p:nvPr/>
        </p:nvSpPr>
        <p:spPr>
          <a:xfrm>
            <a:off x="5784951" y="2240280"/>
            <a:ext cx="475488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t-edit-lbl-0"/>
          <p:cNvSpPr txBox="1"/>
          <p:nvPr/>
        </p:nvSpPr>
        <p:spPr>
          <a:xfrm>
            <a:off x="5784951" y="224028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Edit</a:t>
            </a:r>
          </a:p>
        </p:txBody>
      </p:sp>
      <p:sp>
        <p:nvSpPr>
          <p:cNvPr id="44" name="cat-del-0"/>
          <p:cNvSpPr/>
          <p:nvPr/>
        </p:nvSpPr>
        <p:spPr>
          <a:xfrm>
            <a:off x="6297015" y="2240280"/>
            <a:ext cx="512064" cy="182880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at-del-lbl-0"/>
          <p:cNvSpPr txBox="1"/>
          <p:nvPr/>
        </p:nvSpPr>
        <p:spPr>
          <a:xfrm>
            <a:off x="6297015" y="224028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46" name="cat-row-1-bg"/>
          <p:cNvSpPr/>
          <p:nvPr/>
        </p:nvSpPr>
        <p:spPr>
          <a:xfrm>
            <a:off x="1975104" y="2496312"/>
            <a:ext cx="4943703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at-name-1"/>
          <p:cNvSpPr txBox="1"/>
          <p:nvPr/>
        </p:nvSpPr>
        <p:spPr>
          <a:xfrm>
            <a:off x="2103120" y="2551176"/>
            <a:ext cx="27190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Products</a:t>
            </a:r>
          </a:p>
        </p:txBody>
      </p:sp>
      <p:sp>
        <p:nvSpPr>
          <p:cNvPr id="48" name="cat-meta-1"/>
          <p:cNvSpPr txBox="1"/>
          <p:nvPr/>
        </p:nvSpPr>
        <p:spPr>
          <a:xfrm>
            <a:off x="2103120" y="2697480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18 redirects · Product pages and PDPs</a:t>
            </a:r>
          </a:p>
        </p:txBody>
      </p:sp>
      <p:sp>
        <p:nvSpPr>
          <p:cNvPr id="49" name="cat-edit-1"/>
          <p:cNvSpPr/>
          <p:nvPr/>
        </p:nvSpPr>
        <p:spPr>
          <a:xfrm>
            <a:off x="5784951" y="2587752"/>
            <a:ext cx="475488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at-edit-lbl-1"/>
          <p:cNvSpPr txBox="1"/>
          <p:nvPr/>
        </p:nvSpPr>
        <p:spPr>
          <a:xfrm>
            <a:off x="5784951" y="25877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Edit</a:t>
            </a:r>
          </a:p>
        </p:txBody>
      </p:sp>
      <p:sp>
        <p:nvSpPr>
          <p:cNvPr id="51" name="cat-del-1"/>
          <p:cNvSpPr/>
          <p:nvPr/>
        </p:nvSpPr>
        <p:spPr>
          <a:xfrm>
            <a:off x="6297015" y="2587752"/>
            <a:ext cx="512064" cy="182880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at-del-lbl-1"/>
          <p:cNvSpPr txBox="1"/>
          <p:nvPr/>
        </p:nvSpPr>
        <p:spPr>
          <a:xfrm>
            <a:off x="6297015" y="2587752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53" name="cat-row-2-bg"/>
          <p:cNvSpPr/>
          <p:nvPr/>
        </p:nvSpPr>
        <p:spPr>
          <a:xfrm>
            <a:off x="1975104" y="2843784"/>
            <a:ext cx="4943703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at-name-2"/>
          <p:cNvSpPr txBox="1"/>
          <p:nvPr/>
        </p:nvSpPr>
        <p:spPr>
          <a:xfrm>
            <a:off x="2103120" y="2898648"/>
            <a:ext cx="27190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Campaigns</a:t>
            </a:r>
          </a:p>
        </p:txBody>
      </p:sp>
      <p:sp>
        <p:nvSpPr>
          <p:cNvPr id="55" name="cat-meta-2"/>
          <p:cNvSpPr txBox="1"/>
          <p:nvPr/>
        </p:nvSpPr>
        <p:spPr>
          <a:xfrm>
            <a:off x="2103120" y="3044952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6 redirects · Promo and marketing campaigns</a:t>
            </a:r>
          </a:p>
        </p:txBody>
      </p:sp>
      <p:sp>
        <p:nvSpPr>
          <p:cNvPr id="56" name="cat-edit-2"/>
          <p:cNvSpPr/>
          <p:nvPr/>
        </p:nvSpPr>
        <p:spPr>
          <a:xfrm>
            <a:off x="5784951" y="2935224"/>
            <a:ext cx="475488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at-edit-lbl-2"/>
          <p:cNvSpPr txBox="1"/>
          <p:nvPr/>
        </p:nvSpPr>
        <p:spPr>
          <a:xfrm>
            <a:off x="5784951" y="293522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Edit</a:t>
            </a:r>
          </a:p>
        </p:txBody>
      </p:sp>
      <p:sp>
        <p:nvSpPr>
          <p:cNvPr id="58" name="cat-del-2"/>
          <p:cNvSpPr/>
          <p:nvPr/>
        </p:nvSpPr>
        <p:spPr>
          <a:xfrm>
            <a:off x="6297015" y="2935224"/>
            <a:ext cx="512064" cy="182880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at-del-lbl-2"/>
          <p:cNvSpPr txBox="1"/>
          <p:nvPr/>
        </p:nvSpPr>
        <p:spPr>
          <a:xfrm>
            <a:off x="6297015" y="2935224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60" name="cat-row-3-bg"/>
          <p:cNvSpPr/>
          <p:nvPr/>
        </p:nvSpPr>
        <p:spPr>
          <a:xfrm>
            <a:off x="1975104" y="3191256"/>
            <a:ext cx="4943703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at-name-3"/>
          <p:cNvSpPr txBox="1"/>
          <p:nvPr/>
        </p:nvSpPr>
        <p:spPr>
          <a:xfrm>
            <a:off x="2103120" y="3246120"/>
            <a:ext cx="27190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35"/>
                </a:solidFill>
                <a:latin typeface="Segoe UI"/>
                <a:ea typeface="+mn-ea"/>
              </a:rPr>
              <a:t>Events</a:t>
            </a:r>
          </a:p>
        </p:txBody>
      </p:sp>
      <p:sp>
        <p:nvSpPr>
          <p:cNvPr id="62" name="cat-meta-3"/>
          <p:cNvSpPr txBox="1"/>
          <p:nvPr/>
        </p:nvSpPr>
        <p:spPr>
          <a:xfrm>
            <a:off x="2103120" y="3392424"/>
            <a:ext cx="271903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4 redirects · Race expos and trade shows</a:t>
            </a:r>
          </a:p>
        </p:txBody>
      </p:sp>
      <p:sp>
        <p:nvSpPr>
          <p:cNvPr id="63" name="cat-edit-3"/>
          <p:cNvSpPr/>
          <p:nvPr/>
        </p:nvSpPr>
        <p:spPr>
          <a:xfrm>
            <a:off x="5784951" y="3282696"/>
            <a:ext cx="475488" cy="1828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at-edit-lbl-3"/>
          <p:cNvSpPr txBox="1"/>
          <p:nvPr/>
        </p:nvSpPr>
        <p:spPr>
          <a:xfrm>
            <a:off x="5784951" y="328269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Edit</a:t>
            </a:r>
          </a:p>
        </p:txBody>
      </p:sp>
      <p:sp>
        <p:nvSpPr>
          <p:cNvPr id="65" name="cat-del-3"/>
          <p:cNvSpPr/>
          <p:nvPr/>
        </p:nvSpPr>
        <p:spPr>
          <a:xfrm>
            <a:off x="6297015" y="3282696"/>
            <a:ext cx="512064" cy="182880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t-del-lbl-3"/>
          <p:cNvSpPr txBox="1"/>
          <p:nvPr/>
        </p:nvSpPr>
        <p:spPr>
          <a:xfrm>
            <a:off x="6297015" y="3282696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67" name="tags-card"/>
          <p:cNvSpPr/>
          <p:nvPr/>
        </p:nvSpPr>
        <p:spPr>
          <a:xfrm>
            <a:off x="7046823" y="1417320"/>
            <a:ext cx="4943703" cy="23225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ags-hd-bg"/>
          <p:cNvSpPr/>
          <p:nvPr/>
        </p:nvSpPr>
        <p:spPr>
          <a:xfrm>
            <a:off x="7046823" y="1417320"/>
            <a:ext cx="494370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ags-hd-title"/>
          <p:cNvSpPr txBox="1"/>
          <p:nvPr/>
        </p:nvSpPr>
        <p:spPr>
          <a:xfrm>
            <a:off x="7174839" y="1472184"/>
            <a:ext cx="46876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Tags</a:t>
            </a:r>
          </a:p>
        </p:txBody>
      </p:sp>
      <p:sp>
        <p:nvSpPr>
          <p:cNvPr id="70" name="tags-hd-sub"/>
          <p:cNvSpPr txBox="1"/>
          <p:nvPr/>
        </p:nvSpPr>
        <p:spPr>
          <a:xfrm>
            <a:off x="7174839" y="1618488"/>
            <a:ext cx="468767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Fine-grained labels · 8 total</a:t>
            </a:r>
          </a:p>
        </p:txBody>
      </p:sp>
      <p:sp>
        <p:nvSpPr>
          <p:cNvPr id="71" name="tag-input"/>
          <p:cNvSpPr/>
          <p:nvPr/>
        </p:nvSpPr>
        <p:spPr>
          <a:xfrm>
            <a:off x="7156551" y="1819656"/>
            <a:ext cx="417560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ag-input-ph"/>
          <p:cNvSpPr txBox="1"/>
          <p:nvPr/>
        </p:nvSpPr>
        <p:spPr>
          <a:xfrm>
            <a:off x="7229703" y="1874520"/>
            <a:ext cx="40293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New tag…</a:t>
            </a:r>
          </a:p>
        </p:txBody>
      </p:sp>
      <p:sp>
        <p:nvSpPr>
          <p:cNvPr id="73" name="tag-add-btn"/>
          <p:cNvSpPr/>
          <p:nvPr/>
        </p:nvSpPr>
        <p:spPr>
          <a:xfrm>
            <a:off x="11405311" y="1819656"/>
            <a:ext cx="475488" cy="237744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ag-add-lbl"/>
          <p:cNvSpPr txBox="1"/>
          <p:nvPr/>
        </p:nvSpPr>
        <p:spPr>
          <a:xfrm>
            <a:off x="11405311" y="1819656"/>
            <a:ext cx="475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  <a:ea typeface="+mn-ea"/>
              </a:rPr>
              <a:t>Add</a:t>
            </a:r>
          </a:p>
        </p:txBody>
      </p:sp>
      <p:sp>
        <p:nvSpPr>
          <p:cNvPr id="75" name="tag-row-0-bg"/>
          <p:cNvSpPr/>
          <p:nvPr/>
        </p:nvSpPr>
        <p:spPr>
          <a:xfrm>
            <a:off x="7046823" y="2148840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ag-chip-0"/>
          <p:cNvSpPr/>
          <p:nvPr/>
        </p:nvSpPr>
        <p:spPr>
          <a:xfrm>
            <a:off x="7174839" y="2194560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ag-chip-lbl-0"/>
          <p:cNvSpPr txBox="1"/>
          <p:nvPr/>
        </p:nvSpPr>
        <p:spPr>
          <a:xfrm>
            <a:off x="7174839" y="2194560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packaging</a:t>
            </a:r>
          </a:p>
        </p:txBody>
      </p:sp>
      <p:sp>
        <p:nvSpPr>
          <p:cNvPr id="78" name="tag-count-0"/>
          <p:cNvSpPr txBox="1"/>
          <p:nvPr/>
        </p:nvSpPr>
        <p:spPr>
          <a:xfrm>
            <a:off x="8052663" y="220370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14 redirects</a:t>
            </a:r>
          </a:p>
        </p:txBody>
      </p:sp>
      <p:sp>
        <p:nvSpPr>
          <p:cNvPr id="79" name="tag-rename-0"/>
          <p:cNvSpPr/>
          <p:nvPr/>
        </p:nvSpPr>
        <p:spPr>
          <a:xfrm>
            <a:off x="10801807" y="2203704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ag-rename-lbl-0"/>
          <p:cNvSpPr txBox="1"/>
          <p:nvPr/>
        </p:nvSpPr>
        <p:spPr>
          <a:xfrm>
            <a:off x="10801807" y="2203704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81" name="tag-del-0"/>
          <p:cNvSpPr/>
          <p:nvPr/>
        </p:nvSpPr>
        <p:spPr>
          <a:xfrm>
            <a:off x="11368735" y="2203704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ag-del-lbl-0"/>
          <p:cNvSpPr txBox="1"/>
          <p:nvPr/>
        </p:nvSpPr>
        <p:spPr>
          <a:xfrm>
            <a:off x="11368735" y="2203704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83" name="tag-row-1-bg"/>
          <p:cNvSpPr/>
          <p:nvPr/>
        </p:nvSpPr>
        <p:spPr>
          <a:xfrm>
            <a:off x="7046823" y="2404872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ag-chip-1"/>
          <p:cNvSpPr/>
          <p:nvPr/>
        </p:nvSpPr>
        <p:spPr>
          <a:xfrm>
            <a:off x="7174839" y="2450592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ag-chip-lbl-1"/>
          <p:cNvSpPr txBox="1"/>
          <p:nvPr/>
        </p:nvSpPr>
        <p:spPr>
          <a:xfrm>
            <a:off x="7174839" y="2450592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product-page</a:t>
            </a:r>
          </a:p>
        </p:txBody>
      </p:sp>
      <p:sp>
        <p:nvSpPr>
          <p:cNvPr id="86" name="tag-count-1"/>
          <p:cNvSpPr txBox="1"/>
          <p:nvPr/>
        </p:nvSpPr>
        <p:spPr>
          <a:xfrm>
            <a:off x="8052663" y="2459736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8 redirects</a:t>
            </a:r>
          </a:p>
        </p:txBody>
      </p:sp>
      <p:sp>
        <p:nvSpPr>
          <p:cNvPr id="87" name="tag-rename-1"/>
          <p:cNvSpPr/>
          <p:nvPr/>
        </p:nvSpPr>
        <p:spPr>
          <a:xfrm>
            <a:off x="10801807" y="2459736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ag-rename-lbl-1"/>
          <p:cNvSpPr txBox="1"/>
          <p:nvPr/>
        </p:nvSpPr>
        <p:spPr>
          <a:xfrm>
            <a:off x="10801807" y="245973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89" name="tag-del-1"/>
          <p:cNvSpPr/>
          <p:nvPr/>
        </p:nvSpPr>
        <p:spPr>
          <a:xfrm>
            <a:off x="11368735" y="2459736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ag-del-lbl-1"/>
          <p:cNvSpPr txBox="1"/>
          <p:nvPr/>
        </p:nvSpPr>
        <p:spPr>
          <a:xfrm>
            <a:off x="11368735" y="2459736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91" name="tag-row-2-bg"/>
          <p:cNvSpPr/>
          <p:nvPr/>
        </p:nvSpPr>
        <p:spPr>
          <a:xfrm>
            <a:off x="7046823" y="2660904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ag-chip-2"/>
          <p:cNvSpPr/>
          <p:nvPr/>
        </p:nvSpPr>
        <p:spPr>
          <a:xfrm>
            <a:off x="7174839" y="2706624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ag-chip-lbl-2"/>
          <p:cNvSpPr txBox="1"/>
          <p:nvPr/>
        </p:nvSpPr>
        <p:spPr>
          <a:xfrm>
            <a:off x="7174839" y="2706624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social</a:t>
            </a:r>
          </a:p>
        </p:txBody>
      </p:sp>
      <p:sp>
        <p:nvSpPr>
          <p:cNvPr id="94" name="tag-count-2"/>
          <p:cNvSpPr txBox="1"/>
          <p:nvPr/>
        </p:nvSpPr>
        <p:spPr>
          <a:xfrm>
            <a:off x="8052663" y="271576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7 redirects</a:t>
            </a:r>
          </a:p>
        </p:txBody>
      </p:sp>
      <p:sp>
        <p:nvSpPr>
          <p:cNvPr id="95" name="tag-rename-2"/>
          <p:cNvSpPr/>
          <p:nvPr/>
        </p:nvSpPr>
        <p:spPr>
          <a:xfrm>
            <a:off x="10801807" y="2715768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ag-rename-lbl-2"/>
          <p:cNvSpPr txBox="1"/>
          <p:nvPr/>
        </p:nvSpPr>
        <p:spPr>
          <a:xfrm>
            <a:off x="10801807" y="271576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97" name="tag-del-2"/>
          <p:cNvSpPr/>
          <p:nvPr/>
        </p:nvSpPr>
        <p:spPr>
          <a:xfrm>
            <a:off x="11368735" y="2715768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ag-del-lbl-2"/>
          <p:cNvSpPr txBox="1"/>
          <p:nvPr/>
        </p:nvSpPr>
        <p:spPr>
          <a:xfrm>
            <a:off x="11368735" y="2715768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99" name="tag-row-3-bg"/>
          <p:cNvSpPr/>
          <p:nvPr/>
        </p:nvSpPr>
        <p:spPr>
          <a:xfrm>
            <a:off x="7046823" y="2916936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ag-chip-3"/>
          <p:cNvSpPr/>
          <p:nvPr/>
        </p:nvSpPr>
        <p:spPr>
          <a:xfrm>
            <a:off x="7174839" y="2962656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ag-chip-lbl-3"/>
          <p:cNvSpPr txBox="1"/>
          <p:nvPr/>
        </p:nvSpPr>
        <p:spPr>
          <a:xfrm>
            <a:off x="7174839" y="2962656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influencer</a:t>
            </a:r>
          </a:p>
        </p:txBody>
      </p:sp>
      <p:sp>
        <p:nvSpPr>
          <p:cNvPr id="102" name="tag-count-3"/>
          <p:cNvSpPr txBox="1"/>
          <p:nvPr/>
        </p:nvSpPr>
        <p:spPr>
          <a:xfrm>
            <a:off x="8052663" y="297180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5 redirects</a:t>
            </a:r>
          </a:p>
        </p:txBody>
      </p:sp>
      <p:sp>
        <p:nvSpPr>
          <p:cNvPr id="103" name="tag-rename-3"/>
          <p:cNvSpPr/>
          <p:nvPr/>
        </p:nvSpPr>
        <p:spPr>
          <a:xfrm>
            <a:off x="10801807" y="2971800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ag-rename-lbl-3"/>
          <p:cNvSpPr txBox="1"/>
          <p:nvPr/>
        </p:nvSpPr>
        <p:spPr>
          <a:xfrm>
            <a:off x="10801807" y="297180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105" name="tag-del-3"/>
          <p:cNvSpPr/>
          <p:nvPr/>
        </p:nvSpPr>
        <p:spPr>
          <a:xfrm>
            <a:off x="11368735" y="2971800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ag-del-lbl-3"/>
          <p:cNvSpPr txBox="1"/>
          <p:nvPr/>
        </p:nvSpPr>
        <p:spPr>
          <a:xfrm>
            <a:off x="11368735" y="2971800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107" name="tag-row-4-bg"/>
          <p:cNvSpPr/>
          <p:nvPr/>
        </p:nvSpPr>
        <p:spPr>
          <a:xfrm>
            <a:off x="7046823" y="3172968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ag-chip-4"/>
          <p:cNvSpPr/>
          <p:nvPr/>
        </p:nvSpPr>
        <p:spPr>
          <a:xfrm>
            <a:off x="7174839" y="3218688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ag-chip-lbl-4"/>
          <p:cNvSpPr txBox="1"/>
          <p:nvPr/>
        </p:nvSpPr>
        <p:spPr>
          <a:xfrm>
            <a:off x="7174839" y="3218688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print-run-q1</a:t>
            </a:r>
          </a:p>
        </p:txBody>
      </p:sp>
      <p:sp>
        <p:nvSpPr>
          <p:cNvPr id="110" name="tag-count-4"/>
          <p:cNvSpPr txBox="1"/>
          <p:nvPr/>
        </p:nvSpPr>
        <p:spPr>
          <a:xfrm>
            <a:off x="8052663" y="3227832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6 redirects</a:t>
            </a:r>
          </a:p>
        </p:txBody>
      </p:sp>
      <p:sp>
        <p:nvSpPr>
          <p:cNvPr id="111" name="tag-rename-4"/>
          <p:cNvSpPr/>
          <p:nvPr/>
        </p:nvSpPr>
        <p:spPr>
          <a:xfrm>
            <a:off x="10801807" y="3227832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ag-rename-lbl-4"/>
          <p:cNvSpPr txBox="1"/>
          <p:nvPr/>
        </p:nvSpPr>
        <p:spPr>
          <a:xfrm>
            <a:off x="10801807" y="322783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113" name="tag-del-4"/>
          <p:cNvSpPr/>
          <p:nvPr/>
        </p:nvSpPr>
        <p:spPr>
          <a:xfrm>
            <a:off x="11368735" y="3227832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ag-del-lbl-4"/>
          <p:cNvSpPr txBox="1"/>
          <p:nvPr/>
        </p:nvSpPr>
        <p:spPr>
          <a:xfrm>
            <a:off x="11368735" y="3227832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115" name="tag-row-5-bg"/>
          <p:cNvSpPr/>
          <p:nvPr/>
        </p:nvSpPr>
        <p:spPr>
          <a:xfrm>
            <a:off x="7046823" y="3429000"/>
            <a:ext cx="4943703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ag-chip-5"/>
          <p:cNvSpPr/>
          <p:nvPr/>
        </p:nvSpPr>
        <p:spPr>
          <a:xfrm>
            <a:off x="7174839" y="3474720"/>
            <a:ext cx="786384" cy="164592"/>
          </a:xfrm>
          <a:prstGeom prst="rect">
            <a:avLst/>
          </a:prstGeom>
          <a:solidFill>
            <a:srgbClr val="EEF1F5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ag-chip-lbl-5"/>
          <p:cNvSpPr txBox="1"/>
          <p:nvPr/>
        </p:nvSpPr>
        <p:spPr>
          <a:xfrm>
            <a:off x="7174839" y="3474720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race-2025</a:t>
            </a:r>
          </a:p>
        </p:txBody>
      </p:sp>
      <p:sp>
        <p:nvSpPr>
          <p:cNvPr id="118" name="tag-count-5"/>
          <p:cNvSpPr txBox="1"/>
          <p:nvPr/>
        </p:nvSpPr>
        <p:spPr>
          <a:xfrm>
            <a:off x="8052663" y="348386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4 redirects</a:t>
            </a:r>
          </a:p>
        </p:txBody>
      </p:sp>
      <p:sp>
        <p:nvSpPr>
          <p:cNvPr id="119" name="tag-rename-5"/>
          <p:cNvSpPr/>
          <p:nvPr/>
        </p:nvSpPr>
        <p:spPr>
          <a:xfrm>
            <a:off x="10801807" y="3483864"/>
            <a:ext cx="53035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ag-rename-lbl-5"/>
          <p:cNvSpPr txBox="1"/>
          <p:nvPr/>
        </p:nvSpPr>
        <p:spPr>
          <a:xfrm>
            <a:off x="10801807" y="3483864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Segoe UI"/>
                <a:ea typeface="+mn-ea"/>
              </a:rPr>
              <a:t>Rename</a:t>
            </a:r>
          </a:p>
        </p:txBody>
      </p:sp>
      <p:sp>
        <p:nvSpPr>
          <p:cNvPr id="121" name="tag-del-5"/>
          <p:cNvSpPr/>
          <p:nvPr/>
        </p:nvSpPr>
        <p:spPr>
          <a:xfrm>
            <a:off x="11368735" y="3483864"/>
            <a:ext cx="512064" cy="164592"/>
          </a:xfrm>
          <a:prstGeom prst="rect">
            <a:avLst/>
          </a:prstGeom>
          <a:solidFill>
            <a:srgbClr val="FEF2F2"/>
          </a:solidFill>
          <a:ln w="508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ag-del-lbl-5"/>
          <p:cNvSpPr txBox="1"/>
          <p:nvPr/>
        </p:nvSpPr>
        <p:spPr>
          <a:xfrm>
            <a:off x="11368735" y="3483864"/>
            <a:ext cx="512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C2626"/>
                </a:solidFill>
                <a:latin typeface="Segoe UI"/>
                <a:ea typeface="+mn-ea"/>
              </a:rPr>
              <a:t>Delete</a:t>
            </a:r>
          </a:p>
        </p:txBody>
      </p:sp>
      <p:sp>
        <p:nvSpPr>
          <p:cNvPr id="123" name="purpose-card"/>
          <p:cNvSpPr/>
          <p:nvPr/>
        </p:nvSpPr>
        <p:spPr>
          <a:xfrm>
            <a:off x="1975104" y="3849624"/>
            <a:ext cx="10015423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urpose-hd-bg"/>
          <p:cNvSpPr/>
          <p:nvPr/>
        </p:nvSpPr>
        <p:spPr>
          <a:xfrm>
            <a:off x="1975104" y="3849624"/>
            <a:ext cx="10015423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urpose-hd-title"/>
          <p:cNvSpPr txBox="1"/>
          <p:nvPr/>
        </p:nvSpPr>
        <p:spPr>
          <a:xfrm>
            <a:off x="2103120" y="3904488"/>
            <a:ext cx="9759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F35"/>
                </a:solidFill>
                <a:latin typeface="Segoe UI"/>
                <a:ea typeface="+mn-ea"/>
              </a:rPr>
              <a:t>Purpose types</a:t>
            </a:r>
          </a:p>
        </p:txBody>
      </p:sp>
      <p:sp>
        <p:nvSpPr>
          <p:cNvPr id="126" name="purpose-hd-sub"/>
          <p:cNvSpPr txBox="1"/>
          <p:nvPr/>
        </p:nvSpPr>
        <p:spPr>
          <a:xfrm>
            <a:off x="2103120" y="4050792"/>
            <a:ext cx="975939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Segoe UI"/>
                <a:ea typeface="+mn-ea"/>
              </a:rPr>
              <a:t>System-defined — not editable</a:t>
            </a:r>
          </a:p>
        </p:txBody>
      </p:sp>
      <p:sp>
        <p:nvSpPr>
          <p:cNvPr id="127" name="pt-badge-0"/>
          <p:cNvSpPr/>
          <p:nvPr/>
        </p:nvSpPr>
        <p:spPr>
          <a:xfrm>
            <a:off x="2103120" y="4233672"/>
            <a:ext cx="658368" cy="1645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t-badge-0-text"/>
          <p:cNvSpPr txBox="1"/>
          <p:nvPr/>
        </p:nvSpPr>
        <p:spPr>
          <a:xfrm>
            <a:off x="2103120" y="4242816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D4ED8"/>
                </a:solidFill>
                <a:latin typeface="Segoe UI"/>
                <a:ea typeface="+mn-ea"/>
              </a:rPr>
              <a:t>Print / QR</a:t>
            </a:r>
          </a:p>
        </p:txBody>
      </p:sp>
      <p:sp>
        <p:nvSpPr>
          <p:cNvPr id="129" name="pt-desc-0"/>
          <p:cNvSpPr txBox="1"/>
          <p:nvPr/>
        </p:nvSpPr>
        <p:spPr>
          <a:xfrm>
            <a:off x="2103120" y="4471416"/>
            <a:ext cx="240784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For packaging, printed materials, and QR codes. Stable code — destination updateable.</a:t>
            </a:r>
          </a:p>
        </p:txBody>
      </p:sp>
      <p:sp>
        <p:nvSpPr>
          <p:cNvPr id="130" name="pt-badge-1"/>
          <p:cNvSpPr/>
          <p:nvPr/>
        </p:nvSpPr>
        <p:spPr>
          <a:xfrm>
            <a:off x="4638979" y="4233672"/>
            <a:ext cx="658368" cy="16459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t-badge-1-text"/>
          <p:cNvSpPr txBox="1"/>
          <p:nvPr/>
        </p:nvSpPr>
        <p:spPr>
          <a:xfrm>
            <a:off x="4638979" y="4242816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Segoe UI"/>
                <a:ea typeface="+mn-ea"/>
              </a:rPr>
              <a:t>Campaign</a:t>
            </a:r>
          </a:p>
        </p:txBody>
      </p:sp>
      <p:sp>
        <p:nvSpPr>
          <p:cNvPr id="132" name="pt-desc-1"/>
          <p:cNvSpPr txBox="1"/>
          <p:nvPr/>
        </p:nvSpPr>
        <p:spPr>
          <a:xfrm>
            <a:off x="4638979" y="4471416"/>
            <a:ext cx="240784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Short-lived URLs for promotions, product launches, or marketing campaigns.</a:t>
            </a:r>
          </a:p>
        </p:txBody>
      </p:sp>
      <p:sp>
        <p:nvSpPr>
          <p:cNvPr id="133" name="pt-badge-2"/>
          <p:cNvSpPr/>
          <p:nvPr/>
        </p:nvSpPr>
        <p:spPr>
          <a:xfrm>
            <a:off x="7174839" y="4233672"/>
            <a:ext cx="658368" cy="1645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t-badge-2-text"/>
          <p:cNvSpPr txBox="1"/>
          <p:nvPr/>
        </p:nvSpPr>
        <p:spPr>
          <a:xfrm>
            <a:off x="7174839" y="4242816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Segoe UI"/>
                <a:ea typeface="+mn-ea"/>
              </a:rPr>
              <a:t>Referral</a:t>
            </a:r>
          </a:p>
        </p:txBody>
      </p:sp>
      <p:sp>
        <p:nvSpPr>
          <p:cNvPr id="135" name="pt-desc-2"/>
          <p:cNvSpPr txBox="1"/>
          <p:nvPr/>
        </p:nvSpPr>
        <p:spPr>
          <a:xfrm>
            <a:off x="7174839" y="4471416"/>
            <a:ext cx="240784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Tracks traffic from a specific source — influencer, partner, or affiliate.</a:t>
            </a:r>
          </a:p>
        </p:txBody>
      </p:sp>
      <p:sp>
        <p:nvSpPr>
          <p:cNvPr id="136" name="pt-badge-3"/>
          <p:cNvSpPr/>
          <p:nvPr/>
        </p:nvSpPr>
        <p:spPr>
          <a:xfrm>
            <a:off x="9710699" y="4233672"/>
            <a:ext cx="658368" cy="1645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t-badge-3-text"/>
          <p:cNvSpPr txBox="1"/>
          <p:nvPr/>
        </p:nvSpPr>
        <p:spPr>
          <a:xfrm>
            <a:off x="9710699" y="4242816"/>
            <a:ext cx="65836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D28D9"/>
                </a:solidFill>
                <a:latin typeface="Segoe UI"/>
                <a:ea typeface="+mn-ea"/>
              </a:rPr>
              <a:t>Event</a:t>
            </a:r>
          </a:p>
        </p:txBody>
      </p:sp>
      <p:sp>
        <p:nvSpPr>
          <p:cNvPr id="138" name="pt-desc-3"/>
          <p:cNvSpPr txBox="1"/>
          <p:nvPr/>
        </p:nvSpPr>
        <p:spPr>
          <a:xfrm>
            <a:off x="9710699" y="4471416"/>
            <a:ext cx="2407843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Segoe UI"/>
                <a:ea typeface="+mn-ea"/>
              </a:rPr>
              <a:t>Race expos, trade shows, demo days. Scoped to a single event.</a:t>
            </a:r>
          </a:p>
        </p:txBody>
      </p:sp>
      <p:sp>
        <p:nvSpPr>
          <p:cNvPr id="139" name="footer-left"/>
          <p:cNvSpPr txBox="1"/>
          <p:nvPr/>
        </p:nvSpPr>
        <p:spPr>
          <a:xfrm>
            <a:off x="502920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Screen 05 — Tags &amp; Categories</a:t>
            </a:r>
          </a:p>
        </p:txBody>
      </p:sp>
      <p:sp>
        <p:nvSpPr>
          <p:cNvPr id="140" name="footer-right"/>
          <p:cNvSpPr txBox="1"/>
          <p:nvPr/>
        </p:nvSpPr>
        <p:spPr>
          <a:xfrm>
            <a:off x="6095847" y="6263640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spc="100">
                <a:solidFill>
                  <a:srgbClr val="68778E"/>
                </a:solidFill>
                <a:latin typeface="Cascadia Code"/>
                <a:ea typeface="+mn-ea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